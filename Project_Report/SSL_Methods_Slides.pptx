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82"/>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9396"/>
          </a:solidFill>
          <a:ln w="12700">
            <a:solidFill>
              <a:srgbClr val="0A9396"/>
            </a:solidFill>
            <a:prstDash val="solid"/>
          </a:ln>
        </p:spPr>
      </p:sp>
      <p:sp>
        <p:nvSpPr>
          <p:cNvPr id="3" name="Shape 1"/>
          <p:cNvSpPr/>
          <p:nvPr/>
        </p:nvSpPr>
        <p:spPr>
          <a:xfrm>
            <a:off x="320040" y="320040"/>
            <a:ext cx="2377440" cy="347472"/>
          </a:xfrm>
          <a:prstGeom prst="roundRect">
            <a:avLst>
              <a:gd name="adj" fmla="val 26316"/>
            </a:avLst>
          </a:prstGeom>
          <a:solidFill>
            <a:srgbClr val="0A9396"/>
          </a:solidFill>
          <a:ln w="12700">
            <a:solidFill>
              <a:srgbClr val="0A9396"/>
            </a:solidFill>
            <a:prstDash val="solid"/>
          </a:ln>
        </p:spPr>
      </p:sp>
      <p:sp>
        <p:nvSpPr>
          <p:cNvPr id="4" name="Text 2"/>
          <p:cNvSpPr/>
          <p:nvPr/>
        </p:nvSpPr>
        <p:spPr>
          <a:xfrm>
            <a:off x="320040" y="320040"/>
            <a:ext cx="2377440" cy="347472"/>
          </a:xfrm>
          <a:prstGeom prst="rect">
            <a:avLst/>
          </a:prstGeom>
          <a:noFill/>
          <a:ln/>
        </p:spPr>
        <p:txBody>
          <a:bodyPr wrap="square" lIns="0" tIns="0" rIns="0" bIns="0" rtlCol="0" anchor="ctr"/>
          <a:lstStyle/>
          <a:p>
            <a:pPr marL="0" indent="0" algn="ctr">
              <a:buNone/>
            </a:pPr>
            <a:r>
              <a:rPr lang="en-US" sz="1100" b="1" dirty="0" smtClean="0">
                <a:solidFill>
                  <a:srgbClr val="FFFFFF"/>
                </a:solidFill>
              </a:rPr>
              <a:t>PM25Vision</a:t>
            </a:r>
            <a:endParaRPr lang="en-US" sz="1100" dirty="0"/>
          </a:p>
        </p:txBody>
      </p:sp>
      <p:sp>
        <p:nvSpPr>
          <p:cNvPr id="5" name="Text 3"/>
          <p:cNvSpPr/>
          <p:nvPr/>
        </p:nvSpPr>
        <p:spPr>
          <a:xfrm>
            <a:off x="320040" y="914400"/>
            <a:ext cx="5669280" cy="1920240"/>
          </a:xfrm>
          <a:prstGeom prst="rect">
            <a:avLst/>
          </a:prstGeom>
          <a:noFill/>
          <a:ln/>
        </p:spPr>
        <p:txBody>
          <a:bodyPr wrap="square" rtlCol="0" anchor="ctr"/>
          <a:lstStyle/>
          <a:p>
            <a:pPr marL="0" indent="0">
              <a:lnSpc>
                <a:spcPct val="110000"/>
              </a:lnSpc>
              <a:buNone/>
            </a:pPr>
            <a:r>
              <a:rPr lang="en-US" sz="4800" b="1" dirty="0">
                <a:solidFill>
                  <a:srgbClr val="FFFFFF"/>
                </a:solidFill>
                <a:latin typeface="Calibri" pitchFamily="34" charset="0"/>
                <a:ea typeface="Calibri" pitchFamily="34" charset="-122"/>
                <a:cs typeface="Calibri" pitchFamily="34" charset="-120"/>
              </a:rPr>
              <a:t>Three SSL Methods</a:t>
            </a:r>
            <a:endParaRPr lang="en-US" sz="4800" dirty="0"/>
          </a:p>
          <a:p>
            <a:pPr marL="0" indent="0">
              <a:lnSpc>
                <a:spcPct val="110000"/>
              </a:lnSpc>
              <a:buNone/>
            </a:pPr>
            <a:r>
              <a:rPr lang="en-US" sz="4800" b="1" dirty="0">
                <a:solidFill>
                  <a:srgbClr val="FFFFFF"/>
                </a:solidFill>
                <a:latin typeface="Calibri" pitchFamily="34" charset="0"/>
                <a:ea typeface="Calibri" pitchFamily="34" charset="-122"/>
                <a:cs typeface="Calibri" pitchFamily="34" charset="-120"/>
              </a:rPr>
              <a:t>Explained</a:t>
            </a:r>
            <a:endParaRPr lang="en-US" sz="4800" dirty="0"/>
          </a:p>
        </p:txBody>
      </p:sp>
      <p:sp>
        <p:nvSpPr>
          <p:cNvPr id="6" name="Text 4"/>
          <p:cNvSpPr/>
          <p:nvPr/>
        </p:nvSpPr>
        <p:spPr>
          <a:xfrm>
            <a:off x="320040" y="2926080"/>
            <a:ext cx="6400800" cy="457200"/>
          </a:xfrm>
          <a:prstGeom prst="rect">
            <a:avLst/>
          </a:prstGeom>
          <a:noFill/>
          <a:ln/>
        </p:spPr>
        <p:txBody>
          <a:bodyPr wrap="square" rtlCol="0" anchor="ctr"/>
          <a:lstStyle/>
          <a:p>
            <a:pPr marL="0" indent="0">
              <a:buNone/>
            </a:pPr>
            <a:r>
              <a:rPr lang="en-US" sz="2000" b="1" dirty="0">
                <a:solidFill>
                  <a:srgbClr val="0A9396"/>
                </a:solidFill>
                <a:latin typeface="Calibri" pitchFamily="34" charset="0"/>
                <a:ea typeface="Calibri" pitchFamily="34" charset="-122"/>
                <a:cs typeface="Calibri" pitchFamily="34" charset="-120"/>
              </a:rPr>
              <a:t>BYOL  ·  Barlow Twins  ·  DINO</a:t>
            </a:r>
            <a:endParaRPr lang="en-US" sz="2000" dirty="0"/>
          </a:p>
        </p:txBody>
      </p:sp>
      <p:sp>
        <p:nvSpPr>
          <p:cNvPr id="7" name="Text 5"/>
          <p:cNvSpPr/>
          <p:nvPr/>
        </p:nvSpPr>
        <p:spPr>
          <a:xfrm>
            <a:off x="320040" y="3429000"/>
            <a:ext cx="5943600" cy="822960"/>
          </a:xfrm>
          <a:prstGeom prst="rect">
            <a:avLst/>
          </a:prstGeom>
          <a:noFill/>
          <a:ln/>
        </p:spPr>
        <p:txBody>
          <a:bodyPr wrap="square" rtlCol="0" anchor="ctr"/>
          <a:lstStyle/>
          <a:p>
            <a:pPr marL="0" indent="0">
              <a:lnSpc>
                <a:spcPct val="135000"/>
              </a:lnSpc>
              <a:buNone/>
            </a:pPr>
            <a:endParaRPr lang="en-US" sz="1300" dirty="0"/>
          </a:p>
        </p:txBody>
      </p:sp>
      <p:sp>
        <p:nvSpPr>
          <p:cNvPr id="8" name="Shape 6"/>
          <p:cNvSpPr/>
          <p:nvPr/>
        </p:nvSpPr>
        <p:spPr>
          <a:xfrm>
            <a:off x="6766560" y="274320"/>
            <a:ext cx="2560320" cy="2560320"/>
          </a:xfrm>
          <a:prstGeom prst="ellipse">
            <a:avLst/>
          </a:prstGeom>
          <a:solidFill>
            <a:srgbClr val="0A9396">
              <a:alpha val="15000"/>
            </a:srgbClr>
          </a:solidFill>
          <a:ln w="12700">
            <a:solidFill>
              <a:srgbClr val="0A9396">
                <a:alpha val="30000"/>
              </a:srgbClr>
            </a:solidFill>
            <a:prstDash val="solid"/>
          </a:ln>
        </p:spPr>
      </p:sp>
      <p:sp>
        <p:nvSpPr>
          <p:cNvPr id="9" name="Shape 7"/>
          <p:cNvSpPr/>
          <p:nvPr/>
        </p:nvSpPr>
        <p:spPr>
          <a:xfrm>
            <a:off x="7315200" y="2011680"/>
            <a:ext cx="1737360" cy="1737360"/>
          </a:xfrm>
          <a:prstGeom prst="ellipse">
            <a:avLst/>
          </a:prstGeom>
          <a:solidFill>
            <a:srgbClr val="1565C0">
              <a:alpha val="20000"/>
            </a:srgbClr>
          </a:solidFill>
          <a:ln w="12700">
            <a:solidFill>
              <a:srgbClr val="1565C0">
                <a:alpha val="35000"/>
              </a:srgbClr>
            </a:solidFill>
            <a:prstDash val="solid"/>
          </a:ln>
        </p:spPr>
      </p:sp>
      <p:sp>
        <p:nvSpPr>
          <p:cNvPr id="10" name="Shape 8"/>
          <p:cNvSpPr/>
          <p:nvPr/>
        </p:nvSpPr>
        <p:spPr>
          <a:xfrm>
            <a:off x="6492240" y="3017520"/>
            <a:ext cx="2377440" cy="2377440"/>
          </a:xfrm>
          <a:prstGeom prst="ellipse">
            <a:avLst/>
          </a:prstGeom>
          <a:solidFill>
            <a:srgbClr val="E9A824">
              <a:alpha val="15000"/>
            </a:srgbClr>
          </a:solidFill>
          <a:ln w="12700">
            <a:solidFill>
              <a:srgbClr val="E9A824">
                <a:alpha val="30000"/>
              </a:srgbClr>
            </a:solidFill>
            <a:prstDash val="solid"/>
          </a:ln>
        </p:spPr>
      </p:sp>
      <p:sp>
        <p:nvSpPr>
          <p:cNvPr id="11" name="Text 9"/>
          <p:cNvSpPr/>
          <p:nvPr/>
        </p:nvSpPr>
        <p:spPr>
          <a:xfrm>
            <a:off x="6766560" y="822960"/>
            <a:ext cx="2560320" cy="640080"/>
          </a:xfrm>
          <a:prstGeom prst="rect">
            <a:avLst/>
          </a:prstGeom>
          <a:noFill/>
          <a:ln/>
        </p:spPr>
        <p:txBody>
          <a:bodyPr wrap="square" rtlCol="0" anchor="ctr"/>
          <a:lstStyle/>
          <a:p>
            <a:pPr marL="0" indent="0" algn="ctr">
              <a:buNone/>
            </a:pPr>
            <a:r>
              <a:rPr lang="en-US" sz="1400" b="1" dirty="0">
                <a:solidFill>
                  <a:srgbClr val="0A9396"/>
                </a:solidFill>
              </a:rPr>
              <a:t>BYOL</a:t>
            </a:r>
            <a:endParaRPr lang="en-US" sz="1400" dirty="0"/>
          </a:p>
        </p:txBody>
      </p:sp>
      <p:sp>
        <p:nvSpPr>
          <p:cNvPr id="12" name="Text 10"/>
          <p:cNvSpPr/>
          <p:nvPr/>
        </p:nvSpPr>
        <p:spPr>
          <a:xfrm>
            <a:off x="7315200" y="2514600"/>
            <a:ext cx="1737360" cy="548640"/>
          </a:xfrm>
          <a:prstGeom prst="rect">
            <a:avLst/>
          </a:prstGeom>
          <a:noFill/>
          <a:ln/>
        </p:spPr>
        <p:txBody>
          <a:bodyPr wrap="square" rtlCol="0" anchor="ctr"/>
          <a:lstStyle/>
          <a:p>
            <a:pPr marL="0" indent="0" algn="ctr">
              <a:buNone/>
            </a:pPr>
            <a:r>
              <a:rPr lang="en-US" sz="1200" b="1" dirty="0">
                <a:solidFill>
                  <a:srgbClr val="1565C0"/>
                </a:solidFill>
              </a:rPr>
              <a:t>Barlow Twins</a:t>
            </a:r>
            <a:endParaRPr lang="en-US" sz="1200" dirty="0"/>
          </a:p>
        </p:txBody>
      </p:sp>
      <p:sp>
        <p:nvSpPr>
          <p:cNvPr id="13" name="Text 11"/>
          <p:cNvSpPr/>
          <p:nvPr/>
        </p:nvSpPr>
        <p:spPr>
          <a:xfrm>
            <a:off x="6492240" y="3840480"/>
            <a:ext cx="2377440" cy="548640"/>
          </a:xfrm>
          <a:prstGeom prst="rect">
            <a:avLst/>
          </a:prstGeom>
          <a:noFill/>
          <a:ln/>
        </p:spPr>
        <p:txBody>
          <a:bodyPr wrap="square" rtlCol="0" anchor="ctr"/>
          <a:lstStyle/>
          <a:p>
            <a:pPr marL="0" indent="0" algn="ctr">
              <a:buNone/>
            </a:pPr>
            <a:r>
              <a:rPr lang="en-US" sz="1400" b="1" dirty="0">
                <a:solidFill>
                  <a:srgbClr val="E9A824"/>
                </a:solidFill>
              </a:rPr>
              <a:t>DINO</a:t>
            </a:r>
            <a:endParaRPr lang="en-US" sz="1400" dirty="0"/>
          </a:p>
        </p:txBody>
      </p:sp>
      <p:sp>
        <p:nvSpPr>
          <p:cNvPr id="14" name="Text 12"/>
          <p:cNvSpPr/>
          <p:nvPr/>
        </p:nvSpPr>
        <p:spPr>
          <a:xfrm>
            <a:off x="320040" y="4754880"/>
            <a:ext cx="8503920" cy="274320"/>
          </a:xfrm>
          <a:prstGeom prst="rect">
            <a:avLst/>
          </a:prstGeom>
          <a:noFill/>
          <a:ln/>
        </p:spPr>
        <p:txBody>
          <a:bodyPr wrap="square" rtlCol="0" anchor="ctr"/>
          <a:lstStyle/>
          <a:p>
            <a:pPr marL="0" indent="0" algn="l">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Text 1"/>
          <p:cNvSpPr/>
          <p:nvPr/>
        </p:nvSpPr>
        <p:spPr>
          <a:xfrm>
            <a:off x="320040" y="0"/>
            <a:ext cx="8503920" cy="594360"/>
          </a:xfrm>
          <a:prstGeom prst="rect">
            <a:avLst/>
          </a:prstGeom>
          <a:noFill/>
          <a:ln/>
        </p:spPr>
        <p:txBody>
          <a:bodyPr wrap="square" lIns="0" tIns="0" rIns="0" bIns="0" rtlCol="0" anchor="ctr"/>
          <a:lstStyle/>
          <a:p>
            <a:pPr marL="0" indent="0">
              <a:buNone/>
            </a:pPr>
            <a:r>
              <a:rPr lang="en-US" sz="2000" b="1" dirty="0">
                <a:solidFill>
                  <a:srgbClr val="FFFFFF"/>
                </a:solidFill>
              </a:rPr>
              <a:t>Why These Three Methods for PM25Vision?</a:t>
            </a:r>
            <a:endParaRPr lang="en-US" sz="2000" dirty="0"/>
          </a:p>
        </p:txBody>
      </p:sp>
      <p:sp>
        <p:nvSpPr>
          <p:cNvPr id="4" name="Shape 2"/>
          <p:cNvSpPr/>
          <p:nvPr/>
        </p:nvSpPr>
        <p:spPr>
          <a:xfrm>
            <a:off x="274320" y="731520"/>
            <a:ext cx="2011680" cy="1417320"/>
          </a:xfrm>
          <a:prstGeom prst="rect">
            <a:avLst/>
          </a:prstGeom>
          <a:solidFill>
            <a:srgbClr val="FFFFFF"/>
          </a:solidFill>
          <a:ln w="25400">
            <a:solidFill>
              <a:srgbClr val="0A9396"/>
            </a:solidFill>
            <a:prstDash val="solid"/>
          </a:ln>
          <a:effectLst>
            <a:outerShdw blurRad="101600" dist="38100" dir="8100000" algn="bl" rotWithShape="0">
              <a:srgbClr val="000000">
                <a:alpha val="18000"/>
              </a:srgbClr>
            </a:outerShdw>
          </a:effectLst>
        </p:spPr>
      </p:sp>
      <p:sp>
        <p:nvSpPr>
          <p:cNvPr id="5" name="Shape 3"/>
          <p:cNvSpPr/>
          <p:nvPr/>
        </p:nvSpPr>
        <p:spPr>
          <a:xfrm>
            <a:off x="274320" y="731520"/>
            <a:ext cx="2011680" cy="201168"/>
          </a:xfrm>
          <a:prstGeom prst="rect">
            <a:avLst/>
          </a:prstGeom>
          <a:solidFill>
            <a:srgbClr val="0A9396"/>
          </a:solidFill>
          <a:ln w="12700">
            <a:solidFill>
              <a:srgbClr val="0A9396"/>
            </a:solidFill>
            <a:prstDash val="solid"/>
          </a:ln>
        </p:spPr>
      </p:sp>
      <p:sp>
        <p:nvSpPr>
          <p:cNvPr id="6" name="Text 4"/>
          <p:cNvSpPr/>
          <p:nvPr/>
        </p:nvSpPr>
        <p:spPr>
          <a:xfrm>
            <a:off x="274320" y="932688"/>
            <a:ext cx="2011680" cy="658368"/>
          </a:xfrm>
          <a:prstGeom prst="rect">
            <a:avLst/>
          </a:prstGeom>
          <a:noFill/>
          <a:ln/>
        </p:spPr>
        <p:txBody>
          <a:bodyPr wrap="square" rtlCol="0" anchor="ctr"/>
          <a:lstStyle/>
          <a:p>
            <a:pPr marL="0" indent="0" algn="ctr">
              <a:lnSpc>
                <a:spcPct val="110000"/>
              </a:lnSpc>
              <a:buNone/>
            </a:pPr>
            <a:r>
              <a:rPr lang="en-US" sz="2400" b="1" dirty="0">
                <a:solidFill>
                  <a:srgbClr val="0A9396"/>
                </a:solidFill>
              </a:rPr>
              <a:t>11,114</a:t>
            </a:r>
            <a:endParaRPr lang="en-US" sz="2400" dirty="0"/>
          </a:p>
        </p:txBody>
      </p:sp>
      <p:sp>
        <p:nvSpPr>
          <p:cNvPr id="7" name="Text 5"/>
          <p:cNvSpPr/>
          <p:nvPr/>
        </p:nvSpPr>
        <p:spPr>
          <a:xfrm>
            <a:off x="274320" y="1591056"/>
            <a:ext cx="2011680" cy="502920"/>
          </a:xfrm>
          <a:prstGeom prst="rect">
            <a:avLst/>
          </a:prstGeom>
          <a:noFill/>
          <a:ln/>
        </p:spPr>
        <p:txBody>
          <a:bodyPr wrap="square" rtlCol="0" anchor="ctr"/>
          <a:lstStyle/>
          <a:p>
            <a:pPr marL="0" indent="0" algn="ctr">
              <a:lnSpc>
                <a:spcPct val="120000"/>
              </a:lnSpc>
              <a:buNone/>
            </a:pPr>
            <a:r>
              <a:rPr lang="en-US" sz="1000" dirty="0">
                <a:solidFill>
                  <a:srgbClr val="444444"/>
                </a:solidFill>
              </a:rPr>
              <a:t>Total images</a:t>
            </a:r>
            <a:endParaRPr lang="en-US" sz="1000" dirty="0"/>
          </a:p>
          <a:p>
            <a:pPr marL="0" indent="0" algn="ctr">
              <a:lnSpc>
                <a:spcPct val="120000"/>
              </a:lnSpc>
              <a:buNone/>
            </a:pPr>
            <a:r>
              <a:rPr lang="en-US" sz="1000" dirty="0">
                <a:solidFill>
                  <a:srgbClr val="444444"/>
                </a:solidFill>
              </a:rPr>
              <a:t>(small dataset)</a:t>
            </a:r>
            <a:endParaRPr lang="en-US" sz="1000" dirty="0"/>
          </a:p>
        </p:txBody>
      </p:sp>
      <p:sp>
        <p:nvSpPr>
          <p:cNvPr id="8" name="Shape 6"/>
          <p:cNvSpPr/>
          <p:nvPr/>
        </p:nvSpPr>
        <p:spPr>
          <a:xfrm>
            <a:off x="2441448" y="731520"/>
            <a:ext cx="2011680" cy="1417320"/>
          </a:xfrm>
          <a:prstGeom prst="rect">
            <a:avLst/>
          </a:prstGeom>
          <a:solidFill>
            <a:srgbClr val="FFFFFF"/>
          </a:solidFill>
          <a:ln w="25400">
            <a:solidFill>
              <a:srgbClr val="1565C0"/>
            </a:solidFill>
            <a:prstDash val="solid"/>
          </a:ln>
          <a:effectLst>
            <a:outerShdw blurRad="101600" dist="38100" dir="8100000" algn="bl" rotWithShape="0">
              <a:srgbClr val="000000">
                <a:alpha val="18000"/>
              </a:srgbClr>
            </a:outerShdw>
          </a:effectLst>
        </p:spPr>
      </p:sp>
      <p:sp>
        <p:nvSpPr>
          <p:cNvPr id="9" name="Shape 7"/>
          <p:cNvSpPr/>
          <p:nvPr/>
        </p:nvSpPr>
        <p:spPr>
          <a:xfrm>
            <a:off x="2441448" y="731520"/>
            <a:ext cx="2011680" cy="201168"/>
          </a:xfrm>
          <a:prstGeom prst="rect">
            <a:avLst/>
          </a:prstGeom>
          <a:solidFill>
            <a:srgbClr val="1565C0"/>
          </a:solidFill>
          <a:ln w="12700">
            <a:solidFill>
              <a:srgbClr val="1565C0"/>
            </a:solidFill>
            <a:prstDash val="solid"/>
          </a:ln>
        </p:spPr>
      </p:sp>
      <p:sp>
        <p:nvSpPr>
          <p:cNvPr id="10" name="Text 8"/>
          <p:cNvSpPr/>
          <p:nvPr/>
        </p:nvSpPr>
        <p:spPr>
          <a:xfrm>
            <a:off x="2441448" y="932688"/>
            <a:ext cx="2011680" cy="658368"/>
          </a:xfrm>
          <a:prstGeom prst="rect">
            <a:avLst/>
          </a:prstGeom>
          <a:noFill/>
          <a:ln/>
        </p:spPr>
        <p:txBody>
          <a:bodyPr wrap="square" rtlCol="0" anchor="ctr"/>
          <a:lstStyle/>
          <a:p>
            <a:pPr marL="0" indent="0" algn="ctr">
              <a:lnSpc>
                <a:spcPct val="110000"/>
              </a:lnSpc>
              <a:buNone/>
            </a:pPr>
            <a:r>
              <a:rPr lang="en-US" sz="2400" b="1" dirty="0">
                <a:solidFill>
                  <a:srgbClr val="1565C0"/>
                </a:solidFill>
              </a:rPr>
              <a:t>Batch</a:t>
            </a:r>
            <a:endParaRPr lang="en-US" sz="2400" dirty="0"/>
          </a:p>
          <a:p>
            <a:pPr marL="0" indent="0" algn="ctr">
              <a:lnSpc>
                <a:spcPct val="110000"/>
              </a:lnSpc>
              <a:buNone/>
            </a:pPr>
            <a:r>
              <a:rPr lang="en-US" sz="2400" b="1" dirty="0">
                <a:solidFill>
                  <a:srgbClr val="1565C0"/>
                </a:solidFill>
              </a:rPr>
              <a:t>32</a:t>
            </a:r>
            <a:endParaRPr lang="en-US" sz="2400" dirty="0"/>
          </a:p>
        </p:txBody>
      </p:sp>
      <p:sp>
        <p:nvSpPr>
          <p:cNvPr id="11" name="Text 9"/>
          <p:cNvSpPr/>
          <p:nvPr/>
        </p:nvSpPr>
        <p:spPr>
          <a:xfrm>
            <a:off x="2441448" y="1591056"/>
            <a:ext cx="2011680" cy="502920"/>
          </a:xfrm>
          <a:prstGeom prst="rect">
            <a:avLst/>
          </a:prstGeom>
          <a:noFill/>
          <a:ln/>
        </p:spPr>
        <p:txBody>
          <a:bodyPr wrap="square" rtlCol="0" anchor="ctr"/>
          <a:lstStyle/>
          <a:p>
            <a:pPr marL="0" indent="0" algn="ctr">
              <a:lnSpc>
                <a:spcPct val="120000"/>
              </a:lnSpc>
              <a:buNone/>
            </a:pPr>
            <a:r>
              <a:rPr lang="en-US" sz="1000" dirty="0">
                <a:solidFill>
                  <a:srgbClr val="444444"/>
                </a:solidFill>
              </a:rPr>
              <a:t>GPU limit</a:t>
            </a:r>
            <a:endParaRPr lang="en-US" sz="1000" dirty="0"/>
          </a:p>
          <a:p>
            <a:pPr marL="0" indent="0" algn="ctr">
              <a:lnSpc>
                <a:spcPct val="120000"/>
              </a:lnSpc>
              <a:buNone/>
            </a:pPr>
            <a:r>
              <a:rPr lang="en-US" sz="1000" dirty="0">
                <a:solidFill>
                  <a:srgbClr val="444444"/>
                </a:solidFill>
              </a:rPr>
              <a:t>(15 GB)</a:t>
            </a:r>
            <a:endParaRPr lang="en-US" sz="1000" dirty="0"/>
          </a:p>
        </p:txBody>
      </p:sp>
      <p:sp>
        <p:nvSpPr>
          <p:cNvPr id="12" name="Shape 10"/>
          <p:cNvSpPr/>
          <p:nvPr/>
        </p:nvSpPr>
        <p:spPr>
          <a:xfrm>
            <a:off x="4608576" y="731520"/>
            <a:ext cx="2011680" cy="1417320"/>
          </a:xfrm>
          <a:prstGeom prst="rect">
            <a:avLst/>
          </a:prstGeom>
          <a:solidFill>
            <a:srgbClr val="FFFFFF"/>
          </a:solidFill>
          <a:ln w="25400">
            <a:solidFill>
              <a:srgbClr val="CC2200"/>
            </a:solidFill>
            <a:prstDash val="solid"/>
          </a:ln>
          <a:effectLst>
            <a:outerShdw blurRad="101600" dist="38100" dir="8100000" algn="bl" rotWithShape="0">
              <a:srgbClr val="000000">
                <a:alpha val="18000"/>
              </a:srgbClr>
            </a:outerShdw>
          </a:effectLst>
        </p:spPr>
      </p:sp>
      <p:sp>
        <p:nvSpPr>
          <p:cNvPr id="13" name="Shape 11"/>
          <p:cNvSpPr/>
          <p:nvPr/>
        </p:nvSpPr>
        <p:spPr>
          <a:xfrm>
            <a:off x="4608576" y="731520"/>
            <a:ext cx="2011680" cy="201168"/>
          </a:xfrm>
          <a:prstGeom prst="rect">
            <a:avLst/>
          </a:prstGeom>
          <a:solidFill>
            <a:srgbClr val="CC2200"/>
          </a:solidFill>
          <a:ln w="12700">
            <a:solidFill>
              <a:srgbClr val="CC2200"/>
            </a:solidFill>
            <a:prstDash val="solid"/>
          </a:ln>
        </p:spPr>
      </p:sp>
      <p:sp>
        <p:nvSpPr>
          <p:cNvPr id="14" name="Text 12"/>
          <p:cNvSpPr/>
          <p:nvPr/>
        </p:nvSpPr>
        <p:spPr>
          <a:xfrm>
            <a:off x="4608576" y="932688"/>
            <a:ext cx="2011680" cy="658368"/>
          </a:xfrm>
          <a:prstGeom prst="rect">
            <a:avLst/>
          </a:prstGeom>
          <a:noFill/>
          <a:ln/>
        </p:spPr>
        <p:txBody>
          <a:bodyPr wrap="square" rtlCol="0" anchor="ctr"/>
          <a:lstStyle/>
          <a:p>
            <a:pPr marL="0" indent="0" algn="ctr">
              <a:lnSpc>
                <a:spcPct val="110000"/>
              </a:lnSpc>
              <a:buNone/>
            </a:pPr>
            <a:r>
              <a:rPr lang="en-US" sz="2400" b="1" dirty="0">
                <a:solidFill>
                  <a:srgbClr val="CC2200"/>
                </a:solidFill>
              </a:rPr>
              <a:t>Rare</a:t>
            </a:r>
            <a:endParaRPr lang="en-US" sz="2400" dirty="0"/>
          </a:p>
        </p:txBody>
      </p:sp>
      <p:sp>
        <p:nvSpPr>
          <p:cNvPr id="15" name="Text 13"/>
          <p:cNvSpPr/>
          <p:nvPr/>
        </p:nvSpPr>
        <p:spPr>
          <a:xfrm>
            <a:off x="4608576" y="1591056"/>
            <a:ext cx="2011680" cy="502920"/>
          </a:xfrm>
          <a:prstGeom prst="rect">
            <a:avLst/>
          </a:prstGeom>
          <a:noFill/>
          <a:ln/>
        </p:spPr>
        <p:txBody>
          <a:bodyPr wrap="square" rtlCol="0" anchor="ctr"/>
          <a:lstStyle/>
          <a:p>
            <a:pPr marL="0" indent="0" algn="ctr">
              <a:lnSpc>
                <a:spcPct val="120000"/>
              </a:lnSpc>
              <a:buNone/>
            </a:pPr>
            <a:r>
              <a:rPr lang="en-US" sz="1000" dirty="0">
                <a:solidFill>
                  <a:srgbClr val="444444"/>
                </a:solidFill>
              </a:rPr>
              <a:t>Hazardous class</a:t>
            </a:r>
            <a:endParaRPr lang="en-US" sz="1000" dirty="0"/>
          </a:p>
          <a:p>
            <a:pPr marL="0" indent="0" algn="ctr">
              <a:lnSpc>
                <a:spcPct val="120000"/>
              </a:lnSpc>
              <a:buNone/>
            </a:pPr>
            <a:r>
              <a:rPr lang="en-US" sz="1000" dirty="0">
                <a:solidFill>
                  <a:srgbClr val="444444"/>
                </a:solidFill>
              </a:rPr>
              <a:t>(imbalanced)</a:t>
            </a:r>
            <a:endParaRPr lang="en-US" sz="1000" dirty="0"/>
          </a:p>
        </p:txBody>
      </p:sp>
      <p:sp>
        <p:nvSpPr>
          <p:cNvPr id="16" name="Shape 14"/>
          <p:cNvSpPr/>
          <p:nvPr/>
        </p:nvSpPr>
        <p:spPr>
          <a:xfrm>
            <a:off x="6775704" y="731520"/>
            <a:ext cx="2011680" cy="1417320"/>
          </a:xfrm>
          <a:prstGeom prst="rect">
            <a:avLst/>
          </a:prstGeom>
          <a:solidFill>
            <a:srgbClr val="FFFFFF"/>
          </a:solidFill>
          <a:ln w="25400">
            <a:solidFill>
              <a:srgbClr val="E9A824"/>
            </a:solidFill>
            <a:prstDash val="solid"/>
          </a:ln>
          <a:effectLst>
            <a:outerShdw blurRad="101600" dist="38100" dir="8100000" algn="bl" rotWithShape="0">
              <a:srgbClr val="000000">
                <a:alpha val="18000"/>
              </a:srgbClr>
            </a:outerShdw>
          </a:effectLst>
        </p:spPr>
      </p:sp>
      <p:sp>
        <p:nvSpPr>
          <p:cNvPr id="17" name="Shape 15"/>
          <p:cNvSpPr/>
          <p:nvPr/>
        </p:nvSpPr>
        <p:spPr>
          <a:xfrm>
            <a:off x="6775704" y="731520"/>
            <a:ext cx="2011680" cy="201168"/>
          </a:xfrm>
          <a:prstGeom prst="rect">
            <a:avLst/>
          </a:prstGeom>
          <a:solidFill>
            <a:srgbClr val="E9A824"/>
          </a:solidFill>
          <a:ln w="12700">
            <a:solidFill>
              <a:srgbClr val="E9A824"/>
            </a:solidFill>
            <a:prstDash val="solid"/>
          </a:ln>
        </p:spPr>
      </p:sp>
      <p:sp>
        <p:nvSpPr>
          <p:cNvPr id="18" name="Text 16"/>
          <p:cNvSpPr/>
          <p:nvPr/>
        </p:nvSpPr>
        <p:spPr>
          <a:xfrm>
            <a:off x="6775704" y="932688"/>
            <a:ext cx="2011680" cy="658368"/>
          </a:xfrm>
          <a:prstGeom prst="rect">
            <a:avLst/>
          </a:prstGeom>
          <a:noFill/>
          <a:ln/>
        </p:spPr>
        <p:txBody>
          <a:bodyPr wrap="square" rtlCol="0" anchor="ctr"/>
          <a:lstStyle/>
          <a:p>
            <a:pPr marL="0" indent="0" algn="ctr">
              <a:lnSpc>
                <a:spcPct val="110000"/>
              </a:lnSpc>
              <a:buNone/>
            </a:pPr>
            <a:r>
              <a:rPr lang="en-US" sz="2400" b="1" dirty="0">
                <a:solidFill>
                  <a:srgbClr val="E9A824"/>
                </a:solidFill>
              </a:rPr>
              <a:t>~61%</a:t>
            </a:r>
            <a:endParaRPr lang="en-US" sz="2400" dirty="0"/>
          </a:p>
        </p:txBody>
      </p:sp>
      <p:sp>
        <p:nvSpPr>
          <p:cNvPr id="19" name="Text 17"/>
          <p:cNvSpPr/>
          <p:nvPr/>
        </p:nvSpPr>
        <p:spPr>
          <a:xfrm>
            <a:off x="6775704" y="1591056"/>
            <a:ext cx="2011680" cy="502920"/>
          </a:xfrm>
          <a:prstGeom prst="rect">
            <a:avLst/>
          </a:prstGeom>
          <a:noFill/>
          <a:ln/>
        </p:spPr>
        <p:txBody>
          <a:bodyPr wrap="square" rtlCol="0" anchor="ctr"/>
          <a:lstStyle/>
          <a:p>
            <a:pPr marL="0" indent="0" algn="ctr">
              <a:lnSpc>
                <a:spcPct val="120000"/>
              </a:lnSpc>
              <a:buNone/>
            </a:pPr>
            <a:r>
              <a:rPr lang="en-US" sz="1000" dirty="0">
                <a:solidFill>
                  <a:srgbClr val="444444"/>
                </a:solidFill>
              </a:rPr>
              <a:t>Supervised ceiling</a:t>
            </a:r>
            <a:endParaRPr lang="en-US" sz="1000" dirty="0"/>
          </a:p>
          <a:p>
            <a:pPr marL="0" indent="0" algn="ctr">
              <a:lnSpc>
                <a:spcPct val="120000"/>
              </a:lnSpc>
              <a:buNone/>
            </a:pPr>
            <a:r>
              <a:rPr lang="en-US" sz="1000" dirty="0">
                <a:solidFill>
                  <a:srgbClr val="444444"/>
                </a:solidFill>
              </a:rPr>
              <a:t>(ResNet-50)</a:t>
            </a:r>
            <a:endParaRPr lang="en-US" sz="1000" dirty="0"/>
          </a:p>
        </p:txBody>
      </p:sp>
      <p:sp>
        <p:nvSpPr>
          <p:cNvPr id="20" name="Shape 18"/>
          <p:cNvSpPr/>
          <p:nvPr/>
        </p:nvSpPr>
        <p:spPr>
          <a:xfrm>
            <a:off x="274320" y="2331720"/>
            <a:ext cx="4160520" cy="2578608"/>
          </a:xfrm>
          <a:prstGeom prst="rect">
            <a:avLst/>
          </a:prstGeom>
          <a:solidFill>
            <a:srgbClr val="FFF3E0"/>
          </a:solidFill>
          <a:ln w="19050">
            <a:solidFill>
              <a:srgbClr val="CC5500"/>
            </a:solidFill>
            <a:prstDash val="solid"/>
          </a:ln>
        </p:spPr>
      </p:sp>
      <p:sp>
        <p:nvSpPr>
          <p:cNvPr id="21" name="Shape 19"/>
          <p:cNvSpPr/>
          <p:nvPr/>
        </p:nvSpPr>
        <p:spPr>
          <a:xfrm>
            <a:off x="274320" y="2331720"/>
            <a:ext cx="4160520" cy="347472"/>
          </a:xfrm>
          <a:prstGeom prst="rect">
            <a:avLst/>
          </a:prstGeom>
          <a:solidFill>
            <a:srgbClr val="CC5500"/>
          </a:solidFill>
          <a:ln w="12700">
            <a:solidFill>
              <a:srgbClr val="CC5500"/>
            </a:solidFill>
            <a:prstDash val="solid"/>
          </a:ln>
        </p:spPr>
      </p:sp>
      <p:sp>
        <p:nvSpPr>
          <p:cNvPr id="22" name="Text 20"/>
          <p:cNvSpPr/>
          <p:nvPr/>
        </p:nvSpPr>
        <p:spPr>
          <a:xfrm>
            <a:off x="274320" y="2331720"/>
            <a:ext cx="4160520" cy="347472"/>
          </a:xfrm>
          <a:prstGeom prst="rect">
            <a:avLst/>
          </a:prstGeom>
          <a:noFill/>
          <a:ln/>
        </p:spPr>
        <p:txBody>
          <a:bodyPr wrap="square" lIns="0" tIns="0" rIns="0" bIns="0" rtlCol="0" anchor="ctr"/>
          <a:lstStyle/>
          <a:p>
            <a:pPr marL="0" indent="0" algn="ctr">
              <a:buNone/>
            </a:pPr>
            <a:r>
              <a:rPr lang="en-US" sz="1100" b="1" dirty="0">
                <a:solidFill>
                  <a:srgbClr val="FFFFFF"/>
                </a:solidFill>
              </a:rPr>
              <a:t>Why NOT SimCLR or MAE?</a:t>
            </a:r>
            <a:endParaRPr lang="en-US" sz="1100" dirty="0"/>
          </a:p>
        </p:txBody>
      </p:sp>
      <p:sp>
        <p:nvSpPr>
          <p:cNvPr id="23" name="Text 21"/>
          <p:cNvSpPr/>
          <p:nvPr/>
        </p:nvSpPr>
        <p:spPr>
          <a:xfrm>
            <a:off x="411480" y="2743200"/>
            <a:ext cx="3886200" cy="2103120"/>
          </a:xfrm>
          <a:prstGeom prst="rect">
            <a:avLst/>
          </a:prstGeom>
          <a:noFill/>
          <a:ln/>
        </p:spPr>
        <p:txBody>
          <a:bodyPr wrap="square" rtlCol="0" anchor="ctr"/>
          <a:lstStyle/>
          <a:p>
            <a:pPr marL="342900" indent="-342900">
              <a:lnSpc>
                <a:spcPct val="130000"/>
              </a:lnSpc>
              <a:buSzPct val="100000"/>
              <a:buChar char="•"/>
            </a:pPr>
            <a:r>
              <a:rPr lang="en-US" sz="1100" dirty="0">
                <a:solidFill>
                  <a:srgbClr val="333333"/>
                </a:solidFill>
              </a:rPr>
              <a:t>SimCLR: NT-Xent loss needs batch 4096+ for enough negatives.</a:t>
            </a:r>
            <a:endParaRPr lang="en-US" sz="1100" dirty="0"/>
          </a:p>
          <a:p>
            <a:pPr marL="342900" indent="-342900">
              <a:lnSpc>
                <a:spcPct val="130000"/>
              </a:lnSpc>
              <a:buSzPct val="100000"/>
              <a:buChar char="•"/>
            </a:pPr>
            <a:r>
              <a:rPr lang="en-US" sz="1100" dirty="0">
                <a:solidFill>
                  <a:srgbClr val="333333"/>
                </a:solidFill>
              </a:rPr>
              <a:t>At batch 32 only 62 negatives exist — loss is unstable.</a:t>
            </a:r>
            <a:endParaRPr lang="en-US" sz="1100" dirty="0"/>
          </a:p>
          <a:p>
            <a:pPr marL="342900" indent="-342900">
              <a:lnSpc>
                <a:spcPct val="130000"/>
              </a:lnSpc>
              <a:buSzPct val="100000"/>
              <a:buChar char="•"/>
            </a:pPr>
            <a:r>
              <a:rPr lang="en-US" sz="1100" dirty="0">
                <a:solidFill>
                  <a:srgbClr val="333333"/>
                </a:solidFill>
              </a:rPr>
              <a:t>MAE: Reconstructing 16×16 pixel patches is a low-level task.</a:t>
            </a:r>
            <a:endParaRPr lang="en-US" sz="1100" dirty="0"/>
          </a:p>
          <a:p>
            <a:pPr marL="342900" indent="-342900">
              <a:lnSpc>
                <a:spcPct val="130000"/>
              </a:lnSpc>
              <a:buSzPct val="100000"/>
              <a:buChar char="•"/>
            </a:pPr>
            <a:r>
              <a:rPr lang="en-US" sz="1100" dirty="0">
                <a:solidFill>
                  <a:srgbClr val="333333"/>
                </a:solidFill>
              </a:rPr>
              <a:t>AQI is a global scene property — patch pixels miss the point.</a:t>
            </a:r>
            <a:endParaRPr lang="en-US" sz="1100" dirty="0"/>
          </a:p>
          <a:p>
            <a:pPr marL="342900" indent="-342900">
              <a:lnSpc>
                <a:spcPct val="130000"/>
              </a:lnSpc>
              <a:buSzPct val="100000"/>
              <a:buChar char="•"/>
            </a:pPr>
            <a:r>
              <a:rPr lang="en-US" sz="1100" dirty="0">
                <a:solidFill>
                  <a:srgbClr val="333333"/>
                </a:solidFill>
              </a:rPr>
              <a:t>MAE designed for ViT-Base on 1M+ images, not 11k.</a:t>
            </a:r>
            <a:endParaRPr lang="en-US" sz="1100" dirty="0"/>
          </a:p>
        </p:txBody>
      </p:sp>
      <p:sp>
        <p:nvSpPr>
          <p:cNvPr id="24" name="Shape 22"/>
          <p:cNvSpPr/>
          <p:nvPr/>
        </p:nvSpPr>
        <p:spPr>
          <a:xfrm>
            <a:off x="4709160" y="2331720"/>
            <a:ext cx="4160520" cy="2578608"/>
          </a:xfrm>
          <a:prstGeom prst="rect">
            <a:avLst/>
          </a:prstGeom>
          <a:solidFill>
            <a:srgbClr val="E0F4F1"/>
          </a:solidFill>
          <a:ln w="19050">
            <a:solidFill>
              <a:srgbClr val="0A9396"/>
            </a:solidFill>
            <a:prstDash val="solid"/>
          </a:ln>
        </p:spPr>
      </p:sp>
      <p:sp>
        <p:nvSpPr>
          <p:cNvPr id="25" name="Shape 23"/>
          <p:cNvSpPr/>
          <p:nvPr/>
        </p:nvSpPr>
        <p:spPr>
          <a:xfrm>
            <a:off x="4709160" y="2331720"/>
            <a:ext cx="4160520" cy="347472"/>
          </a:xfrm>
          <a:prstGeom prst="rect">
            <a:avLst/>
          </a:prstGeom>
          <a:solidFill>
            <a:srgbClr val="0A9396"/>
          </a:solidFill>
          <a:ln w="12700">
            <a:solidFill>
              <a:srgbClr val="0A9396"/>
            </a:solidFill>
            <a:prstDash val="solid"/>
          </a:ln>
        </p:spPr>
      </p:sp>
      <p:sp>
        <p:nvSpPr>
          <p:cNvPr id="26" name="Text 24"/>
          <p:cNvSpPr/>
          <p:nvPr/>
        </p:nvSpPr>
        <p:spPr>
          <a:xfrm>
            <a:off x="4709160" y="2331720"/>
            <a:ext cx="4160520" cy="347472"/>
          </a:xfrm>
          <a:prstGeom prst="rect">
            <a:avLst/>
          </a:prstGeom>
          <a:noFill/>
          <a:ln/>
        </p:spPr>
        <p:txBody>
          <a:bodyPr wrap="square" lIns="0" tIns="0" rIns="0" bIns="0" rtlCol="0" anchor="ctr"/>
          <a:lstStyle/>
          <a:p>
            <a:pPr marL="0" indent="0" algn="ctr">
              <a:buNone/>
            </a:pPr>
            <a:r>
              <a:rPr lang="en-US" sz="1100" b="1" dirty="0">
                <a:solidFill>
                  <a:srgbClr val="FFFFFF"/>
                </a:solidFill>
              </a:rPr>
              <a:t>Why BYOL + Barlow Twins + DINO?</a:t>
            </a:r>
            <a:endParaRPr lang="en-US" sz="1100" dirty="0"/>
          </a:p>
        </p:txBody>
      </p:sp>
      <p:sp>
        <p:nvSpPr>
          <p:cNvPr id="27" name="Text 25"/>
          <p:cNvSpPr/>
          <p:nvPr/>
        </p:nvSpPr>
        <p:spPr>
          <a:xfrm>
            <a:off x="4846320" y="2743200"/>
            <a:ext cx="3886200" cy="2103120"/>
          </a:xfrm>
          <a:prstGeom prst="rect">
            <a:avLst/>
          </a:prstGeom>
          <a:noFill/>
          <a:ln/>
        </p:spPr>
        <p:txBody>
          <a:bodyPr wrap="square" rtlCol="0" anchor="ctr"/>
          <a:lstStyle/>
          <a:p>
            <a:pPr marL="342900" indent="-342900">
              <a:lnSpc>
                <a:spcPct val="130000"/>
              </a:lnSpc>
              <a:buSzPct val="100000"/>
              <a:buChar char="•"/>
            </a:pPr>
            <a:r>
              <a:rPr lang="en-US" sz="1100" dirty="0">
                <a:solidFill>
                  <a:srgbClr val="333333"/>
                </a:solidFill>
              </a:rPr>
              <a:t>All three: no negatives → immune to class imbalance.</a:t>
            </a:r>
            <a:endParaRPr lang="en-US" sz="1100" dirty="0"/>
          </a:p>
          <a:p>
            <a:pPr marL="342900" indent="-342900">
              <a:lnSpc>
                <a:spcPct val="130000"/>
              </a:lnSpc>
              <a:buSzPct val="100000"/>
              <a:buChar char="•"/>
            </a:pPr>
            <a:r>
              <a:rPr lang="en-US" sz="1100" dirty="0">
                <a:solidFill>
                  <a:srgbClr val="333333"/>
                </a:solidFill>
              </a:rPr>
              <a:t>All three: batch-size independent — batch 32 works fine.</a:t>
            </a:r>
            <a:endParaRPr lang="en-US" sz="1100" dirty="0"/>
          </a:p>
          <a:p>
            <a:pPr marL="342900" indent="-342900">
              <a:lnSpc>
                <a:spcPct val="130000"/>
              </a:lnSpc>
              <a:buSzPct val="100000"/>
              <a:buChar char="•"/>
            </a:pPr>
            <a:r>
              <a:rPr lang="en-US" sz="1100" dirty="0">
                <a:solidFill>
                  <a:srgbClr val="333333"/>
                </a:solidFill>
              </a:rPr>
              <a:t>BYOL + DINO: student-teacher design → stable on small data.</a:t>
            </a:r>
            <a:endParaRPr lang="en-US" sz="1100" dirty="0"/>
          </a:p>
          <a:p>
            <a:pPr marL="342900" indent="-342900">
              <a:lnSpc>
                <a:spcPct val="130000"/>
              </a:lnSpc>
              <a:buSzPct val="100000"/>
              <a:buChar char="•"/>
            </a:pPr>
            <a:r>
              <a:rPr lang="en-US" sz="1100" dirty="0">
                <a:solidFill>
                  <a:srgbClr val="333333"/>
                </a:solidFill>
              </a:rPr>
              <a:t>DINO: multi-crop captures whole-image haze (global signal).</a:t>
            </a:r>
            <a:endParaRPr lang="en-US" sz="1100" dirty="0"/>
          </a:p>
          <a:p>
            <a:pPr marL="342900" indent="-342900">
              <a:lnSpc>
                <a:spcPct val="130000"/>
              </a:lnSpc>
              <a:buSzPct val="100000"/>
              <a:buChar char="•"/>
            </a:pPr>
            <a:r>
              <a:rPr lang="en-US" sz="1100" dirty="0">
                <a:solidFill>
                  <a:srgbClr val="333333"/>
                </a:solidFill>
              </a:rPr>
              <a:t>Barlow Twins: highest small-dataset SSL accuracy in literature.</a:t>
            </a:r>
            <a:endParaRPr lang="en-US" sz="1100" dirty="0"/>
          </a:p>
        </p:txBody>
      </p:sp>
      <p:sp>
        <p:nvSpPr>
          <p:cNvPr id="28" name="Text 26"/>
          <p:cNvSpPr/>
          <p:nvPr/>
        </p:nvSpPr>
        <p:spPr>
          <a:xfrm>
            <a:off x="274320" y="4919472"/>
            <a:ext cx="8503920" cy="182880"/>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A9396"/>
          </a:solidFill>
          <a:ln w="12700">
            <a:solidFill>
              <a:srgbClr val="0A9396"/>
            </a:solidFill>
            <a:prstDash val="solid"/>
          </a:ln>
        </p:spPr>
      </p:sp>
      <p:sp>
        <p:nvSpPr>
          <p:cNvPr id="3" name="Text 1"/>
          <p:cNvSpPr/>
          <p:nvPr/>
        </p:nvSpPr>
        <p:spPr>
          <a:xfrm>
            <a:off x="320040" y="0"/>
            <a:ext cx="7315200" cy="594360"/>
          </a:xfrm>
          <a:prstGeom prst="rect">
            <a:avLst/>
          </a:prstGeom>
          <a:noFill/>
          <a:ln/>
        </p:spPr>
        <p:txBody>
          <a:bodyPr wrap="square" lIns="0" tIns="0" rIns="0" bIns="0" rtlCol="0" anchor="ctr"/>
          <a:lstStyle/>
          <a:p>
            <a:pPr marL="0" indent="0">
              <a:buNone/>
            </a:pPr>
            <a:r>
              <a:rPr lang="en-US" sz="2000" b="1" dirty="0">
                <a:solidFill>
                  <a:srgbClr val="FFFFFF"/>
                </a:solidFill>
              </a:rPr>
              <a:t>Method 1 — BYOL  (Bootstrap Your Own Latent)</a:t>
            </a:r>
            <a:endParaRPr lang="en-US" sz="2000" dirty="0"/>
          </a:p>
        </p:txBody>
      </p:sp>
      <p:sp>
        <p:nvSpPr>
          <p:cNvPr id="6" name="Shape 4"/>
          <p:cNvSpPr/>
          <p:nvPr/>
        </p:nvSpPr>
        <p:spPr>
          <a:xfrm>
            <a:off x="320040" y="731520"/>
            <a:ext cx="8503920" cy="658368"/>
          </a:xfrm>
          <a:prstGeom prst="rect">
            <a:avLst/>
          </a:prstGeom>
          <a:solidFill>
            <a:srgbClr val="E0F7F6"/>
          </a:solidFill>
          <a:ln w="12700">
            <a:solidFill>
              <a:srgbClr val="0A9396"/>
            </a:solidFill>
            <a:prstDash val="solid"/>
          </a:ln>
        </p:spPr>
      </p:sp>
      <p:sp>
        <p:nvSpPr>
          <p:cNvPr id="7" name="Text 5"/>
          <p:cNvSpPr/>
          <p:nvPr/>
        </p:nvSpPr>
        <p:spPr>
          <a:xfrm>
            <a:off x="320040" y="731520"/>
            <a:ext cx="914400" cy="658368"/>
          </a:xfrm>
          <a:prstGeom prst="rect">
            <a:avLst/>
          </a:prstGeom>
          <a:noFill/>
          <a:ln/>
        </p:spPr>
        <p:txBody>
          <a:bodyPr wrap="square" rtlCol="0" anchor="ctr"/>
          <a:lstStyle/>
          <a:p>
            <a:pPr marL="0" indent="0">
              <a:buNone/>
            </a:pPr>
            <a:r>
              <a:rPr lang="en-US" sz="1300" b="1" dirty="0" smtClean="0">
                <a:solidFill>
                  <a:srgbClr val="0A9396"/>
                </a:solidFill>
              </a:rPr>
              <a:t>Intuition</a:t>
            </a:r>
            <a:r>
              <a:rPr lang="en-US" sz="1300" b="1" dirty="0">
                <a:solidFill>
                  <a:srgbClr val="0A9396"/>
                </a:solidFill>
              </a:rPr>
              <a:t>: </a:t>
            </a:r>
            <a:endParaRPr lang="en-US" sz="1300" dirty="0"/>
          </a:p>
        </p:txBody>
      </p:sp>
      <p:sp>
        <p:nvSpPr>
          <p:cNvPr id="8" name="Text 6"/>
          <p:cNvSpPr/>
          <p:nvPr/>
        </p:nvSpPr>
        <p:spPr>
          <a:xfrm>
            <a:off x="1234440" y="731520"/>
            <a:ext cx="7452360" cy="658368"/>
          </a:xfrm>
          <a:prstGeom prst="rect">
            <a:avLst/>
          </a:prstGeom>
          <a:noFill/>
          <a:ln/>
        </p:spPr>
        <p:txBody>
          <a:bodyPr wrap="square" rtlCol="0" anchor="ctr"/>
          <a:lstStyle/>
          <a:p>
            <a:pPr marL="0" indent="0">
              <a:lnSpc>
                <a:spcPct val="120000"/>
              </a:lnSpc>
              <a:buNone/>
            </a:pPr>
            <a:r>
              <a:rPr lang="en-US" sz="1200" dirty="0">
                <a:solidFill>
                  <a:srgbClr val="222222"/>
                </a:solidFill>
              </a:rPr>
              <a:t>A student (online network) looks at view 1 and tries to predict what its slow-moving teacher sees in view 2. The teacher is a momentum average of the student — updated gradually, never by backprop. No wrong examples needed. Asymmetry (predictor only on the student side) prevents collapse.</a:t>
            </a:r>
            <a:endParaRPr lang="en-US" sz="1200" dirty="0"/>
          </a:p>
        </p:txBody>
      </p:sp>
      <p:sp>
        <p:nvSpPr>
          <p:cNvPr id="9" name="Shape 7"/>
          <p:cNvSpPr/>
          <p:nvPr/>
        </p:nvSpPr>
        <p:spPr>
          <a:xfrm>
            <a:off x="1325880" y="1417320"/>
            <a:ext cx="1554480" cy="594360"/>
          </a:xfrm>
          <a:prstGeom prst="rect">
            <a:avLst/>
          </a:prstGeom>
          <a:solidFill>
            <a:srgbClr val="E9A824">
              <a:alpha val="70000"/>
            </a:srgbClr>
          </a:solidFill>
          <a:ln w="12700">
            <a:solidFill>
              <a:srgbClr val="E9A824"/>
            </a:solidFill>
            <a:prstDash val="solid"/>
          </a:ln>
        </p:spPr>
      </p:sp>
      <p:sp>
        <p:nvSpPr>
          <p:cNvPr id="10" name="Text 8"/>
          <p:cNvSpPr/>
          <p:nvPr/>
        </p:nvSpPr>
        <p:spPr>
          <a:xfrm>
            <a:off x="1325880" y="1600200"/>
            <a:ext cx="1554480" cy="594360"/>
          </a:xfrm>
          <a:prstGeom prst="rect">
            <a:avLst/>
          </a:prstGeom>
          <a:noFill/>
          <a:ln/>
        </p:spPr>
        <p:txBody>
          <a:bodyPr wrap="square" rtlCol="0" anchor="ctr"/>
          <a:lstStyle/>
          <a:p>
            <a:pPr marL="0" indent="0" algn="ctr">
              <a:buNone/>
            </a:pPr>
            <a:r>
              <a:rPr lang="en-US" sz="1200" b="1" dirty="0">
                <a:solidFill>
                  <a:srgbClr val="333333"/>
                </a:solidFill>
              </a:rPr>
              <a:t>Image</a:t>
            </a:r>
            <a:endParaRPr lang="en-US" sz="1200" dirty="0"/>
          </a:p>
        </p:txBody>
      </p:sp>
      <p:sp>
        <p:nvSpPr>
          <p:cNvPr id="11" name="Shape 9"/>
          <p:cNvSpPr/>
          <p:nvPr/>
        </p:nvSpPr>
        <p:spPr>
          <a:xfrm>
            <a:off x="1691640" y="2103120"/>
            <a:ext cx="0" cy="411480"/>
          </a:xfrm>
          <a:prstGeom prst="line">
            <a:avLst/>
          </a:prstGeom>
          <a:noFill/>
          <a:ln w="19050">
            <a:solidFill>
              <a:srgbClr val="888888"/>
            </a:solidFill>
            <a:prstDash val="solid"/>
          </a:ln>
        </p:spPr>
      </p:sp>
      <p:sp>
        <p:nvSpPr>
          <p:cNvPr id="12" name="Shape 10"/>
          <p:cNvSpPr/>
          <p:nvPr/>
        </p:nvSpPr>
        <p:spPr>
          <a:xfrm>
            <a:off x="2240280" y="2103120"/>
            <a:ext cx="731520" cy="411480"/>
          </a:xfrm>
          <a:prstGeom prst="line">
            <a:avLst/>
          </a:prstGeom>
          <a:noFill/>
          <a:ln w="19050">
            <a:solidFill>
              <a:srgbClr val="888888"/>
            </a:solidFill>
            <a:prstDash val="solid"/>
          </a:ln>
        </p:spPr>
      </p:sp>
      <p:sp>
        <p:nvSpPr>
          <p:cNvPr id="13" name="Shape 11"/>
          <p:cNvSpPr/>
          <p:nvPr/>
        </p:nvSpPr>
        <p:spPr>
          <a:xfrm>
            <a:off x="411480" y="2514600"/>
            <a:ext cx="1371600" cy="502920"/>
          </a:xfrm>
          <a:prstGeom prst="rect">
            <a:avLst/>
          </a:prstGeom>
          <a:solidFill>
            <a:srgbClr val="1565C0">
              <a:alpha val="75000"/>
            </a:srgbClr>
          </a:solidFill>
          <a:ln w="12700">
            <a:solidFill>
              <a:srgbClr val="1565C0"/>
            </a:solidFill>
            <a:prstDash val="solid"/>
          </a:ln>
        </p:spPr>
      </p:sp>
      <p:sp>
        <p:nvSpPr>
          <p:cNvPr id="14" name="Text 12"/>
          <p:cNvSpPr/>
          <p:nvPr/>
        </p:nvSpPr>
        <p:spPr>
          <a:xfrm>
            <a:off x="411480" y="2514600"/>
            <a:ext cx="1371600" cy="502920"/>
          </a:xfrm>
          <a:prstGeom prst="rect">
            <a:avLst/>
          </a:prstGeom>
          <a:noFill/>
          <a:ln/>
        </p:spPr>
        <p:txBody>
          <a:bodyPr wrap="square" rtlCol="0" anchor="ctr"/>
          <a:lstStyle/>
          <a:p>
            <a:pPr marL="0" indent="0" algn="ctr">
              <a:buNone/>
            </a:pPr>
            <a:r>
              <a:rPr lang="en-US" sz="1000" b="1" dirty="0">
                <a:solidFill>
                  <a:srgbClr val="FFFFFF"/>
                </a:solidFill>
              </a:rPr>
              <a:t>Online Enc f</a:t>
            </a:r>
            <a:endParaRPr lang="en-US" sz="1000" dirty="0"/>
          </a:p>
        </p:txBody>
      </p:sp>
      <p:sp>
        <p:nvSpPr>
          <p:cNvPr id="15" name="Shape 13"/>
          <p:cNvSpPr/>
          <p:nvPr/>
        </p:nvSpPr>
        <p:spPr>
          <a:xfrm>
            <a:off x="1097280" y="3017520"/>
            <a:ext cx="0" cy="256032"/>
          </a:xfrm>
          <a:prstGeom prst="line">
            <a:avLst/>
          </a:prstGeom>
          <a:noFill/>
          <a:ln w="19050">
            <a:solidFill>
              <a:srgbClr val="888888"/>
            </a:solidFill>
            <a:prstDash val="solid"/>
          </a:ln>
        </p:spPr>
      </p:sp>
      <p:sp>
        <p:nvSpPr>
          <p:cNvPr id="16" name="Shape 14"/>
          <p:cNvSpPr/>
          <p:nvPr/>
        </p:nvSpPr>
        <p:spPr>
          <a:xfrm>
            <a:off x="411480" y="3273552"/>
            <a:ext cx="1371600" cy="457200"/>
          </a:xfrm>
          <a:prstGeom prst="rect">
            <a:avLst/>
          </a:prstGeom>
          <a:solidFill>
            <a:srgbClr val="1976D2">
              <a:alpha val="80000"/>
            </a:srgbClr>
          </a:solidFill>
          <a:ln w="12700">
            <a:solidFill>
              <a:srgbClr val="1976D2"/>
            </a:solidFill>
            <a:prstDash val="solid"/>
          </a:ln>
        </p:spPr>
      </p:sp>
      <p:sp>
        <p:nvSpPr>
          <p:cNvPr id="17" name="Text 15"/>
          <p:cNvSpPr/>
          <p:nvPr/>
        </p:nvSpPr>
        <p:spPr>
          <a:xfrm>
            <a:off x="411480" y="3273552"/>
            <a:ext cx="1371600" cy="457200"/>
          </a:xfrm>
          <a:prstGeom prst="rect">
            <a:avLst/>
          </a:prstGeom>
          <a:noFill/>
          <a:ln/>
        </p:spPr>
        <p:txBody>
          <a:bodyPr wrap="square" rtlCol="0" anchor="ctr"/>
          <a:lstStyle/>
          <a:p>
            <a:pPr marL="0" indent="0" algn="ctr">
              <a:buNone/>
            </a:pPr>
            <a:r>
              <a:rPr lang="en-US" sz="1000" b="1" dirty="0">
                <a:solidFill>
                  <a:srgbClr val="FFFFFF"/>
                </a:solidFill>
              </a:rPr>
              <a:t>Projector g → z</a:t>
            </a:r>
            <a:endParaRPr lang="en-US" sz="1000" dirty="0"/>
          </a:p>
        </p:txBody>
      </p:sp>
      <p:sp>
        <p:nvSpPr>
          <p:cNvPr id="18" name="Shape 16"/>
          <p:cNvSpPr/>
          <p:nvPr/>
        </p:nvSpPr>
        <p:spPr>
          <a:xfrm>
            <a:off x="1097280" y="3730752"/>
            <a:ext cx="0" cy="256032"/>
          </a:xfrm>
          <a:prstGeom prst="line">
            <a:avLst/>
          </a:prstGeom>
          <a:noFill/>
          <a:ln w="19050">
            <a:solidFill>
              <a:srgbClr val="888888"/>
            </a:solidFill>
            <a:prstDash val="solid"/>
          </a:ln>
        </p:spPr>
      </p:sp>
      <p:sp>
        <p:nvSpPr>
          <p:cNvPr id="19" name="Shape 17"/>
          <p:cNvSpPr/>
          <p:nvPr/>
        </p:nvSpPr>
        <p:spPr>
          <a:xfrm>
            <a:off x="411480" y="3986784"/>
            <a:ext cx="1371600" cy="457200"/>
          </a:xfrm>
          <a:prstGeom prst="rect">
            <a:avLst/>
          </a:prstGeom>
          <a:solidFill>
            <a:srgbClr val="42A5F5">
              <a:alpha val="80000"/>
            </a:srgbClr>
          </a:solidFill>
          <a:ln w="12700">
            <a:solidFill>
              <a:srgbClr val="42A5F5"/>
            </a:solidFill>
            <a:prstDash val="solid"/>
          </a:ln>
        </p:spPr>
      </p:sp>
      <p:sp>
        <p:nvSpPr>
          <p:cNvPr id="20" name="Text 18"/>
          <p:cNvSpPr/>
          <p:nvPr/>
        </p:nvSpPr>
        <p:spPr>
          <a:xfrm>
            <a:off x="411480" y="3986784"/>
            <a:ext cx="1371600" cy="457200"/>
          </a:xfrm>
          <a:prstGeom prst="rect">
            <a:avLst/>
          </a:prstGeom>
          <a:noFill/>
          <a:ln/>
        </p:spPr>
        <p:txBody>
          <a:bodyPr wrap="square" rtlCol="0" anchor="ctr"/>
          <a:lstStyle/>
          <a:p>
            <a:pPr marL="0" indent="0" algn="ctr">
              <a:buNone/>
            </a:pPr>
            <a:r>
              <a:rPr lang="en-US" sz="1000" b="1" dirty="0">
                <a:solidFill>
                  <a:srgbClr val="111111"/>
                </a:solidFill>
              </a:rPr>
              <a:t>Predictor q → p</a:t>
            </a:r>
            <a:endParaRPr lang="en-US" sz="1000" dirty="0"/>
          </a:p>
        </p:txBody>
      </p:sp>
      <p:sp>
        <p:nvSpPr>
          <p:cNvPr id="22" name="Shape 20"/>
          <p:cNvSpPr/>
          <p:nvPr/>
        </p:nvSpPr>
        <p:spPr>
          <a:xfrm>
            <a:off x="2423160" y="2514600"/>
            <a:ext cx="1371600" cy="502920"/>
          </a:xfrm>
          <a:prstGeom prst="rect">
            <a:avLst/>
          </a:prstGeom>
          <a:solidFill>
            <a:srgbClr val="6A1B9A">
              <a:alpha val="75000"/>
            </a:srgbClr>
          </a:solidFill>
          <a:ln w="12700">
            <a:solidFill>
              <a:srgbClr val="6A1B9A"/>
            </a:solidFill>
            <a:prstDash val="solid"/>
          </a:ln>
        </p:spPr>
      </p:sp>
      <p:sp>
        <p:nvSpPr>
          <p:cNvPr id="23" name="Text 21"/>
          <p:cNvSpPr/>
          <p:nvPr/>
        </p:nvSpPr>
        <p:spPr>
          <a:xfrm>
            <a:off x="2423160" y="2514600"/>
            <a:ext cx="1371600" cy="502920"/>
          </a:xfrm>
          <a:prstGeom prst="rect">
            <a:avLst/>
          </a:prstGeom>
          <a:noFill/>
          <a:ln/>
        </p:spPr>
        <p:txBody>
          <a:bodyPr wrap="square" rtlCol="0" anchor="ctr"/>
          <a:lstStyle/>
          <a:p>
            <a:pPr marL="0" indent="0" algn="ctr">
              <a:buNone/>
            </a:pPr>
            <a:r>
              <a:rPr lang="en-US" sz="1000" b="1" dirty="0">
                <a:solidFill>
                  <a:srgbClr val="FFFFFF"/>
                </a:solidFill>
              </a:rPr>
              <a:t>Target Enc f'</a:t>
            </a:r>
            <a:endParaRPr lang="en-US" sz="1000" dirty="0"/>
          </a:p>
        </p:txBody>
      </p:sp>
      <p:sp>
        <p:nvSpPr>
          <p:cNvPr id="24" name="Shape 22"/>
          <p:cNvSpPr/>
          <p:nvPr/>
        </p:nvSpPr>
        <p:spPr>
          <a:xfrm>
            <a:off x="3108960" y="3017520"/>
            <a:ext cx="0" cy="256032"/>
          </a:xfrm>
          <a:prstGeom prst="line">
            <a:avLst/>
          </a:prstGeom>
          <a:noFill/>
          <a:ln w="19050">
            <a:solidFill>
              <a:srgbClr val="888888"/>
            </a:solidFill>
            <a:prstDash val="solid"/>
          </a:ln>
        </p:spPr>
      </p:sp>
      <p:sp>
        <p:nvSpPr>
          <p:cNvPr id="25" name="Shape 23"/>
          <p:cNvSpPr/>
          <p:nvPr/>
        </p:nvSpPr>
        <p:spPr>
          <a:xfrm>
            <a:off x="2423160" y="3273552"/>
            <a:ext cx="1371600" cy="457200"/>
          </a:xfrm>
          <a:prstGeom prst="rect">
            <a:avLst/>
          </a:prstGeom>
          <a:solidFill>
            <a:srgbClr val="8E24AA">
              <a:alpha val="80000"/>
            </a:srgbClr>
          </a:solidFill>
          <a:ln w="12700">
            <a:solidFill>
              <a:srgbClr val="8E24AA"/>
            </a:solidFill>
            <a:prstDash val="solid"/>
          </a:ln>
        </p:spPr>
      </p:sp>
      <p:sp>
        <p:nvSpPr>
          <p:cNvPr id="26" name="Text 24"/>
          <p:cNvSpPr/>
          <p:nvPr/>
        </p:nvSpPr>
        <p:spPr>
          <a:xfrm>
            <a:off x="2423160" y="3273552"/>
            <a:ext cx="1371600" cy="457200"/>
          </a:xfrm>
          <a:prstGeom prst="rect">
            <a:avLst/>
          </a:prstGeom>
          <a:noFill/>
          <a:ln/>
        </p:spPr>
        <p:txBody>
          <a:bodyPr wrap="square" rtlCol="0" anchor="ctr"/>
          <a:lstStyle/>
          <a:p>
            <a:pPr marL="0" indent="0" algn="ctr">
              <a:buNone/>
            </a:pPr>
            <a:r>
              <a:rPr lang="en-US" sz="1000" b="1" dirty="0">
                <a:solidFill>
                  <a:srgbClr val="FFFFFF"/>
                </a:solidFill>
              </a:rPr>
              <a:t>Projector g' → t</a:t>
            </a:r>
            <a:endParaRPr lang="en-US" sz="1000" dirty="0"/>
          </a:p>
        </p:txBody>
      </p:sp>
      <p:sp>
        <p:nvSpPr>
          <p:cNvPr id="27" name="Text 25"/>
          <p:cNvSpPr/>
          <p:nvPr/>
        </p:nvSpPr>
        <p:spPr>
          <a:xfrm>
            <a:off x="2331720" y="3813048"/>
            <a:ext cx="1554480" cy="548640"/>
          </a:xfrm>
          <a:prstGeom prst="rect">
            <a:avLst/>
          </a:prstGeom>
          <a:noFill/>
          <a:ln/>
        </p:spPr>
        <p:txBody>
          <a:bodyPr wrap="square" rtlCol="0" anchor="ctr"/>
          <a:lstStyle/>
          <a:p>
            <a:pPr marL="0" indent="0" algn="ctr">
              <a:buNone/>
            </a:pPr>
            <a:r>
              <a:rPr lang="en-US" sz="900" b="1" dirty="0">
                <a:solidFill>
                  <a:srgbClr val="6A1B9A"/>
                </a:solidFill>
              </a:rPr>
              <a:t>Target</a:t>
            </a:r>
            <a:endParaRPr lang="en-US" sz="900" dirty="0"/>
          </a:p>
          <a:p>
            <a:pPr marL="0" indent="0" algn="ctr">
              <a:buNone/>
            </a:pPr>
            <a:r>
              <a:rPr lang="en-US" sz="900" b="1" dirty="0">
                <a:solidFill>
                  <a:srgbClr val="6A1B9A"/>
                </a:solidFill>
              </a:rPr>
              <a:t>(EMA only, no grad)</a:t>
            </a:r>
            <a:endParaRPr lang="en-US" sz="900" dirty="0"/>
          </a:p>
        </p:txBody>
      </p:sp>
      <p:sp>
        <p:nvSpPr>
          <p:cNvPr id="28" name="Shape 26"/>
          <p:cNvSpPr/>
          <p:nvPr/>
        </p:nvSpPr>
        <p:spPr>
          <a:xfrm>
            <a:off x="685800" y="2011680"/>
            <a:ext cx="2240280" cy="0"/>
          </a:xfrm>
          <a:prstGeom prst="line">
            <a:avLst/>
          </a:prstGeom>
          <a:noFill/>
          <a:ln w="12700">
            <a:solidFill>
              <a:srgbClr val="888888"/>
            </a:solidFill>
            <a:prstDash val="dash"/>
          </a:ln>
        </p:spPr>
      </p:sp>
      <p:sp>
        <p:nvSpPr>
          <p:cNvPr id="29" name="Text 27"/>
          <p:cNvSpPr/>
          <p:nvPr/>
        </p:nvSpPr>
        <p:spPr>
          <a:xfrm>
            <a:off x="594360" y="1783080"/>
            <a:ext cx="3017520" cy="320040"/>
          </a:xfrm>
          <a:prstGeom prst="rect">
            <a:avLst/>
          </a:prstGeom>
          <a:noFill/>
          <a:ln/>
        </p:spPr>
        <p:txBody>
          <a:bodyPr wrap="square" rtlCol="0" anchor="ctr"/>
          <a:lstStyle/>
          <a:p>
            <a:pPr marL="0" indent="0" algn="ctr">
              <a:buNone/>
            </a:pPr>
            <a:r>
              <a:rPr lang="en-US" sz="900" i="1" dirty="0">
                <a:solidFill>
                  <a:srgbClr val="555555"/>
                </a:solidFill>
              </a:rPr>
              <a:t>EMA: θ' ← m·θ'+(1−m)·θ  (m≈0.996)</a:t>
            </a:r>
            <a:endParaRPr lang="en-US" sz="900" dirty="0"/>
          </a:p>
        </p:txBody>
      </p:sp>
      <p:sp>
        <p:nvSpPr>
          <p:cNvPr id="30" name="Shape 28"/>
          <p:cNvSpPr/>
          <p:nvPr/>
        </p:nvSpPr>
        <p:spPr>
          <a:xfrm>
            <a:off x="1097280" y="4443984"/>
            <a:ext cx="0" cy="256032"/>
          </a:xfrm>
          <a:prstGeom prst="line">
            <a:avLst/>
          </a:prstGeom>
          <a:noFill/>
          <a:ln w="19050">
            <a:solidFill>
              <a:srgbClr val="CC2200"/>
            </a:solidFill>
            <a:prstDash val="solid"/>
          </a:ln>
        </p:spPr>
      </p:sp>
      <p:sp>
        <p:nvSpPr>
          <p:cNvPr id="31" name="Shape 29"/>
          <p:cNvSpPr/>
          <p:nvPr/>
        </p:nvSpPr>
        <p:spPr>
          <a:xfrm>
            <a:off x="3108960" y="3730752"/>
            <a:ext cx="0" cy="969264"/>
          </a:xfrm>
          <a:prstGeom prst="line">
            <a:avLst/>
          </a:prstGeom>
          <a:noFill/>
          <a:ln w="19050">
            <a:solidFill>
              <a:srgbClr val="CC2200"/>
            </a:solidFill>
            <a:prstDash val="dash"/>
          </a:ln>
        </p:spPr>
      </p:sp>
      <p:sp>
        <p:nvSpPr>
          <p:cNvPr id="32" name="Shape 30"/>
          <p:cNvSpPr/>
          <p:nvPr/>
        </p:nvSpPr>
        <p:spPr>
          <a:xfrm>
            <a:off x="1097280" y="4700016"/>
            <a:ext cx="2011680" cy="0"/>
          </a:xfrm>
          <a:prstGeom prst="line">
            <a:avLst/>
          </a:prstGeom>
          <a:noFill/>
          <a:ln w="19050">
            <a:solidFill>
              <a:srgbClr val="CC2200"/>
            </a:solidFill>
            <a:prstDash val="solid"/>
          </a:ln>
        </p:spPr>
      </p:sp>
      <p:sp>
        <p:nvSpPr>
          <p:cNvPr id="33" name="Shape 31"/>
          <p:cNvSpPr/>
          <p:nvPr/>
        </p:nvSpPr>
        <p:spPr>
          <a:xfrm>
            <a:off x="937260" y="4498848"/>
            <a:ext cx="2606040" cy="530352"/>
          </a:xfrm>
          <a:prstGeom prst="rect">
            <a:avLst/>
          </a:prstGeom>
          <a:solidFill>
            <a:srgbClr val="CC2200">
              <a:alpha val="80000"/>
            </a:srgbClr>
          </a:solidFill>
          <a:ln w="12700">
            <a:solidFill>
              <a:srgbClr val="CC2200"/>
            </a:solidFill>
            <a:prstDash val="solid"/>
          </a:ln>
        </p:spPr>
      </p:sp>
      <p:sp>
        <p:nvSpPr>
          <p:cNvPr id="34" name="Text 32"/>
          <p:cNvSpPr/>
          <p:nvPr/>
        </p:nvSpPr>
        <p:spPr>
          <a:xfrm>
            <a:off x="937260" y="4498848"/>
            <a:ext cx="2606040" cy="530352"/>
          </a:xfrm>
          <a:prstGeom prst="rect">
            <a:avLst/>
          </a:prstGeom>
          <a:noFill/>
          <a:ln/>
        </p:spPr>
        <p:txBody>
          <a:bodyPr wrap="square" rtlCol="0" anchor="ctr"/>
          <a:lstStyle/>
          <a:p>
            <a:pPr marL="0" indent="0" algn="ctr">
              <a:buNone/>
            </a:pPr>
            <a:r>
              <a:rPr lang="en-US" sz="1000" b="1" dirty="0">
                <a:solidFill>
                  <a:srgbClr val="FFFFFF"/>
                </a:solidFill>
              </a:rPr>
              <a:t>MSE Loss  ‖q(z)−stop_grad(t)‖²</a:t>
            </a:r>
            <a:endParaRPr lang="en-US" sz="1000" dirty="0"/>
          </a:p>
        </p:txBody>
      </p:sp>
      <p:sp>
        <p:nvSpPr>
          <p:cNvPr id="35" name="Shape 33"/>
          <p:cNvSpPr/>
          <p:nvPr/>
        </p:nvSpPr>
        <p:spPr>
          <a:xfrm>
            <a:off x="4069080" y="1508760"/>
            <a:ext cx="4754880" cy="1325880"/>
          </a:xfrm>
          <a:prstGeom prst="rect">
            <a:avLst/>
          </a:prstGeom>
          <a:solidFill>
            <a:srgbClr val="E0F7F6"/>
          </a:solidFill>
          <a:ln w="12700">
            <a:solidFill>
              <a:srgbClr val="0A9396"/>
            </a:solidFill>
            <a:prstDash val="solid"/>
          </a:ln>
        </p:spPr>
      </p:sp>
      <p:sp>
        <p:nvSpPr>
          <p:cNvPr id="36" name="Text 34"/>
          <p:cNvSpPr/>
          <p:nvPr/>
        </p:nvSpPr>
        <p:spPr>
          <a:xfrm>
            <a:off x="4206240" y="1600200"/>
            <a:ext cx="4480560" cy="256032"/>
          </a:xfrm>
          <a:prstGeom prst="rect">
            <a:avLst/>
          </a:prstGeom>
          <a:noFill/>
          <a:ln/>
        </p:spPr>
        <p:txBody>
          <a:bodyPr wrap="square" rtlCol="0" anchor="ctr"/>
          <a:lstStyle/>
          <a:p>
            <a:pPr marL="0" indent="0">
              <a:buNone/>
            </a:pPr>
            <a:r>
              <a:rPr lang="en-US" sz="1200" b="1" dirty="0">
                <a:solidFill>
                  <a:srgbClr val="0A9396"/>
                </a:solidFill>
              </a:rPr>
              <a:t>Objective</a:t>
            </a:r>
            <a:endParaRPr lang="en-US" sz="1200" dirty="0"/>
          </a:p>
        </p:txBody>
      </p:sp>
      <p:sp>
        <p:nvSpPr>
          <p:cNvPr id="37" name="Text 35"/>
          <p:cNvSpPr/>
          <p:nvPr/>
        </p:nvSpPr>
        <p:spPr>
          <a:xfrm>
            <a:off x="4206240" y="1883664"/>
            <a:ext cx="4480560" cy="384048"/>
          </a:xfrm>
          <a:prstGeom prst="rect">
            <a:avLst/>
          </a:prstGeom>
          <a:noFill/>
          <a:ln/>
        </p:spPr>
        <p:txBody>
          <a:bodyPr wrap="square" rtlCol="0" anchor="ctr"/>
          <a:lstStyle/>
          <a:p>
            <a:pPr marL="0" indent="0">
              <a:buNone/>
            </a:pPr>
            <a:r>
              <a:rPr lang="en-US" sz="1200" b="1" dirty="0">
                <a:solidFill>
                  <a:srgbClr val="222222"/>
                </a:solidFill>
                <a:latin typeface="Consolas" pitchFamily="34" charset="0"/>
                <a:ea typeface="Consolas" pitchFamily="34" charset="-122"/>
                <a:cs typeface="Consolas" pitchFamily="34" charset="-120"/>
              </a:rPr>
              <a:t>L = ||q(z_online) − stop_grad(t_target)||²</a:t>
            </a:r>
            <a:endParaRPr lang="en-US" sz="1200" dirty="0"/>
          </a:p>
        </p:txBody>
      </p:sp>
      <p:sp>
        <p:nvSpPr>
          <p:cNvPr id="38" name="Text 36"/>
          <p:cNvSpPr/>
          <p:nvPr/>
        </p:nvSpPr>
        <p:spPr>
          <a:xfrm>
            <a:off x="4206240" y="2304288"/>
            <a:ext cx="4480560" cy="411480"/>
          </a:xfrm>
          <a:prstGeom prst="rect">
            <a:avLst/>
          </a:prstGeom>
          <a:noFill/>
          <a:ln/>
        </p:spPr>
        <p:txBody>
          <a:bodyPr wrap="square" rtlCol="0" anchor="ctr"/>
          <a:lstStyle/>
          <a:p>
            <a:pPr marL="0" indent="0">
              <a:lnSpc>
                <a:spcPct val="125000"/>
              </a:lnSpc>
              <a:buNone/>
            </a:pPr>
            <a:r>
              <a:rPr lang="en-US" sz="1000" dirty="0">
                <a:solidFill>
                  <a:srgbClr val="555555"/>
                </a:solidFill>
              </a:rPr>
              <a:t>No negatives. Asymmetric predictor prevents representational collapse.</a:t>
            </a:r>
            <a:endParaRPr lang="en-US" sz="1000" dirty="0"/>
          </a:p>
        </p:txBody>
      </p:sp>
      <p:sp>
        <p:nvSpPr>
          <p:cNvPr id="39" name="Shape 37"/>
          <p:cNvSpPr/>
          <p:nvPr/>
        </p:nvSpPr>
        <p:spPr>
          <a:xfrm>
            <a:off x="4069080" y="2971800"/>
            <a:ext cx="4754880" cy="347472"/>
          </a:xfrm>
          <a:prstGeom prst="rect">
            <a:avLst/>
          </a:prstGeom>
          <a:solidFill>
            <a:srgbClr val="0A9396"/>
          </a:solidFill>
          <a:ln w="12700">
            <a:solidFill>
              <a:srgbClr val="0A9396"/>
            </a:solidFill>
            <a:prstDash val="solid"/>
          </a:ln>
        </p:spPr>
      </p:sp>
      <p:sp>
        <p:nvSpPr>
          <p:cNvPr id="40" name="Text 38"/>
          <p:cNvSpPr/>
          <p:nvPr/>
        </p:nvSpPr>
        <p:spPr>
          <a:xfrm>
            <a:off x="4206240" y="2971800"/>
            <a:ext cx="4480560" cy="347472"/>
          </a:xfrm>
          <a:prstGeom prst="rect">
            <a:avLst/>
          </a:prstGeom>
          <a:noFill/>
          <a:ln/>
        </p:spPr>
        <p:txBody>
          <a:bodyPr wrap="square" rtlCol="0" anchor="ctr"/>
          <a:lstStyle/>
          <a:p>
            <a:pPr marL="0" indent="0">
              <a:buNone/>
            </a:pPr>
            <a:r>
              <a:rPr lang="en-US" sz="1200" b="1" dirty="0">
                <a:solidFill>
                  <a:srgbClr val="FFFFFF"/>
                </a:solidFill>
              </a:rPr>
              <a:t>Why BYOL fits PM25Vision</a:t>
            </a:r>
            <a:endParaRPr lang="en-US" sz="1200" dirty="0"/>
          </a:p>
        </p:txBody>
      </p:sp>
      <p:sp>
        <p:nvSpPr>
          <p:cNvPr id="41" name="Text 39"/>
          <p:cNvSpPr/>
          <p:nvPr/>
        </p:nvSpPr>
        <p:spPr>
          <a:xfrm>
            <a:off x="4206240" y="3355848"/>
            <a:ext cx="4480560" cy="1600200"/>
          </a:xfrm>
          <a:prstGeom prst="rect">
            <a:avLst/>
          </a:prstGeom>
          <a:noFill/>
          <a:ln/>
        </p:spPr>
        <p:txBody>
          <a:bodyPr wrap="square" rtlCol="0" anchor="ctr"/>
          <a:lstStyle/>
          <a:p>
            <a:pPr marL="342900" indent="-342900">
              <a:lnSpc>
                <a:spcPct val="130000"/>
              </a:lnSpc>
              <a:buSzPct val="100000"/>
              <a:buChar char="•"/>
            </a:pPr>
            <a:r>
              <a:rPr lang="en-US" sz="1100" dirty="0">
                <a:solidFill>
                  <a:srgbClr val="222222"/>
                </a:solidFill>
              </a:rPr>
              <a:t>Severe class imbalance: Hazardous images rare → contrastive negatives biased. BYOL avoids negatives entirely.</a:t>
            </a:r>
            <a:endParaRPr lang="en-US" sz="1100" dirty="0"/>
          </a:p>
          <a:p>
            <a:pPr marL="342900" indent="-342900">
              <a:lnSpc>
                <a:spcPct val="130000"/>
              </a:lnSpc>
              <a:buSzPct val="100000"/>
              <a:buChar char="•"/>
            </a:pPr>
            <a:r>
              <a:rPr lang="en-US" sz="1100" dirty="0">
                <a:solidFill>
                  <a:srgbClr val="222222"/>
                </a:solidFill>
              </a:rPr>
              <a:t>Batch-size independent: works perfectly at batch 32 on 15 GB GPU.</a:t>
            </a:r>
            <a:endParaRPr lang="en-US" sz="1100" dirty="0"/>
          </a:p>
          <a:p>
            <a:pPr marL="342900" indent="-342900">
              <a:lnSpc>
                <a:spcPct val="130000"/>
              </a:lnSpc>
              <a:buSzPct val="100000"/>
              <a:buChar char="•"/>
            </a:pPr>
            <a:r>
              <a:rPr lang="en-US" sz="1100" dirty="0">
                <a:solidFill>
                  <a:srgbClr val="222222"/>
                </a:solidFill>
              </a:rPr>
              <a:t>EMA teacher stabilises training on 11k images — prevents overfitting.</a:t>
            </a:r>
            <a:endParaRPr lang="en-US" sz="1100" dirty="0"/>
          </a:p>
        </p:txBody>
      </p:sp>
      <p:sp>
        <p:nvSpPr>
          <p:cNvPr id="42" name="Text 40"/>
          <p:cNvSpPr/>
          <p:nvPr/>
        </p:nvSpPr>
        <p:spPr>
          <a:xfrm>
            <a:off x="411480" y="4978908"/>
            <a:ext cx="8503920" cy="164592"/>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565C0"/>
          </a:solidFill>
          <a:ln w="12700">
            <a:solidFill>
              <a:srgbClr val="1565C0"/>
            </a:solidFill>
            <a:prstDash val="solid"/>
          </a:ln>
        </p:spPr>
      </p:sp>
      <p:sp>
        <p:nvSpPr>
          <p:cNvPr id="3" name="Text 1"/>
          <p:cNvSpPr/>
          <p:nvPr/>
        </p:nvSpPr>
        <p:spPr>
          <a:xfrm>
            <a:off x="320040" y="0"/>
            <a:ext cx="7315200" cy="594360"/>
          </a:xfrm>
          <a:prstGeom prst="rect">
            <a:avLst/>
          </a:prstGeom>
          <a:noFill/>
          <a:ln/>
        </p:spPr>
        <p:txBody>
          <a:bodyPr wrap="square" lIns="0" tIns="0" rIns="0" bIns="0" rtlCol="0" anchor="ctr"/>
          <a:lstStyle/>
          <a:p>
            <a:pPr marL="0" indent="0">
              <a:buNone/>
            </a:pPr>
            <a:r>
              <a:rPr lang="en-US" sz="2000" b="1" dirty="0">
                <a:solidFill>
                  <a:srgbClr val="FFFFFF"/>
                </a:solidFill>
              </a:rPr>
              <a:t>Method 2 — Barlow Twins  (Redundancy-Reduction SSL)</a:t>
            </a:r>
            <a:endParaRPr lang="en-US" sz="2000" dirty="0"/>
          </a:p>
        </p:txBody>
      </p:sp>
      <p:sp>
        <p:nvSpPr>
          <p:cNvPr id="6" name="Shape 4"/>
          <p:cNvSpPr/>
          <p:nvPr/>
        </p:nvSpPr>
        <p:spPr>
          <a:xfrm>
            <a:off x="320040" y="731520"/>
            <a:ext cx="8503920" cy="658368"/>
          </a:xfrm>
          <a:prstGeom prst="rect">
            <a:avLst/>
          </a:prstGeom>
          <a:solidFill>
            <a:srgbClr val="E3F2FD"/>
          </a:solidFill>
          <a:ln w="12700">
            <a:solidFill>
              <a:srgbClr val="1565C0"/>
            </a:solidFill>
            <a:prstDash val="solid"/>
          </a:ln>
        </p:spPr>
      </p:sp>
      <p:sp>
        <p:nvSpPr>
          <p:cNvPr id="7" name="Text 5"/>
          <p:cNvSpPr/>
          <p:nvPr/>
        </p:nvSpPr>
        <p:spPr>
          <a:xfrm>
            <a:off x="320040" y="731520"/>
            <a:ext cx="914400" cy="658368"/>
          </a:xfrm>
          <a:prstGeom prst="rect">
            <a:avLst/>
          </a:prstGeom>
          <a:noFill/>
          <a:ln/>
        </p:spPr>
        <p:txBody>
          <a:bodyPr wrap="square" rtlCol="0" anchor="ctr"/>
          <a:lstStyle/>
          <a:p>
            <a:pPr marL="0" indent="0">
              <a:buNone/>
            </a:pPr>
            <a:r>
              <a:rPr lang="en-US" sz="1300" b="1" dirty="0">
                <a:solidFill>
                  <a:srgbClr val="1565C0"/>
                </a:solidFill>
              </a:rPr>
              <a:t>Intuition: </a:t>
            </a:r>
            <a:endParaRPr lang="en-US" sz="1300" dirty="0"/>
          </a:p>
        </p:txBody>
      </p:sp>
      <p:sp>
        <p:nvSpPr>
          <p:cNvPr id="8" name="Text 6"/>
          <p:cNvSpPr/>
          <p:nvPr/>
        </p:nvSpPr>
        <p:spPr>
          <a:xfrm>
            <a:off x="1234440" y="731520"/>
            <a:ext cx="7452360" cy="658368"/>
          </a:xfrm>
          <a:prstGeom prst="rect">
            <a:avLst/>
          </a:prstGeom>
          <a:noFill/>
          <a:ln/>
        </p:spPr>
        <p:txBody>
          <a:bodyPr wrap="square" rtlCol="0" anchor="ctr"/>
          <a:lstStyle/>
          <a:p>
            <a:pPr marL="0" indent="0">
              <a:lnSpc>
                <a:spcPct val="120000"/>
              </a:lnSpc>
              <a:buNone/>
            </a:pPr>
            <a:r>
              <a:rPr lang="en-US" sz="1050" dirty="0">
                <a:solidFill>
                  <a:srgbClr val="222222"/>
                </a:solidFill>
              </a:rPr>
              <a:t>Think of two musicians playing the same song but each adding their own style. Good harmony means they cover the same notes (high correlation between matching features) without copying each other note-for-note (low redundancy between different features). Barlow Twins pushes the cross-correlation matrix of two views toward the identity matrix.</a:t>
            </a:r>
            <a:endParaRPr lang="en-US" sz="1050" dirty="0"/>
          </a:p>
        </p:txBody>
      </p:sp>
      <p:sp>
        <p:nvSpPr>
          <p:cNvPr id="9" name="Shape 7"/>
          <p:cNvSpPr/>
          <p:nvPr/>
        </p:nvSpPr>
        <p:spPr>
          <a:xfrm>
            <a:off x="1325880" y="1508760"/>
            <a:ext cx="1554480" cy="594360"/>
          </a:xfrm>
          <a:prstGeom prst="rect">
            <a:avLst/>
          </a:prstGeom>
          <a:solidFill>
            <a:srgbClr val="E9A824">
              <a:alpha val="70000"/>
            </a:srgbClr>
          </a:solidFill>
          <a:ln w="12700">
            <a:solidFill>
              <a:srgbClr val="E9A824"/>
            </a:solidFill>
            <a:prstDash val="solid"/>
          </a:ln>
        </p:spPr>
      </p:sp>
      <p:sp>
        <p:nvSpPr>
          <p:cNvPr id="10" name="Text 8"/>
          <p:cNvSpPr/>
          <p:nvPr/>
        </p:nvSpPr>
        <p:spPr>
          <a:xfrm>
            <a:off x="1325880" y="1508760"/>
            <a:ext cx="1554480" cy="594360"/>
          </a:xfrm>
          <a:prstGeom prst="rect">
            <a:avLst/>
          </a:prstGeom>
          <a:noFill/>
          <a:ln/>
        </p:spPr>
        <p:txBody>
          <a:bodyPr wrap="square" rtlCol="0" anchor="ctr"/>
          <a:lstStyle/>
          <a:p>
            <a:pPr marL="0" indent="0" algn="ctr">
              <a:buNone/>
            </a:pPr>
            <a:r>
              <a:rPr lang="en-US" sz="1100" b="1" dirty="0">
                <a:solidFill>
                  <a:srgbClr val="333333"/>
                </a:solidFill>
              </a:rPr>
              <a:t>PM2.5 image</a:t>
            </a:r>
            <a:endParaRPr lang="en-US" sz="1100" dirty="0"/>
          </a:p>
        </p:txBody>
      </p:sp>
      <p:sp>
        <p:nvSpPr>
          <p:cNvPr id="11" name="Shape 9"/>
          <p:cNvSpPr/>
          <p:nvPr/>
        </p:nvSpPr>
        <p:spPr>
          <a:xfrm>
            <a:off x="1691640" y="2103120"/>
            <a:ext cx="0" cy="365760"/>
          </a:xfrm>
          <a:prstGeom prst="line">
            <a:avLst/>
          </a:prstGeom>
          <a:noFill/>
          <a:ln w="19050">
            <a:solidFill>
              <a:srgbClr val="888888"/>
            </a:solidFill>
            <a:prstDash val="solid"/>
          </a:ln>
        </p:spPr>
      </p:sp>
      <p:sp>
        <p:nvSpPr>
          <p:cNvPr id="12" name="Shape 10"/>
          <p:cNvSpPr/>
          <p:nvPr/>
        </p:nvSpPr>
        <p:spPr>
          <a:xfrm>
            <a:off x="2240280" y="2103120"/>
            <a:ext cx="685800" cy="365760"/>
          </a:xfrm>
          <a:prstGeom prst="line">
            <a:avLst/>
          </a:prstGeom>
          <a:noFill/>
          <a:ln w="19050">
            <a:solidFill>
              <a:srgbClr val="888888"/>
            </a:solidFill>
            <a:prstDash val="solid"/>
          </a:ln>
        </p:spPr>
      </p:sp>
      <p:sp>
        <p:nvSpPr>
          <p:cNvPr id="13" name="Shape 11"/>
          <p:cNvSpPr/>
          <p:nvPr/>
        </p:nvSpPr>
        <p:spPr>
          <a:xfrm>
            <a:off x="411480" y="2468880"/>
            <a:ext cx="1280160" cy="502920"/>
          </a:xfrm>
          <a:prstGeom prst="rect">
            <a:avLst/>
          </a:prstGeom>
          <a:solidFill>
            <a:srgbClr val="1565C0">
              <a:alpha val="70000"/>
            </a:srgbClr>
          </a:solidFill>
          <a:ln w="12700">
            <a:solidFill>
              <a:srgbClr val="1565C0"/>
            </a:solidFill>
            <a:prstDash val="solid"/>
          </a:ln>
        </p:spPr>
      </p:sp>
      <p:sp>
        <p:nvSpPr>
          <p:cNvPr id="14" name="Text 12"/>
          <p:cNvSpPr/>
          <p:nvPr/>
        </p:nvSpPr>
        <p:spPr>
          <a:xfrm>
            <a:off x="411480" y="2468880"/>
            <a:ext cx="1280160" cy="502920"/>
          </a:xfrm>
          <a:prstGeom prst="rect">
            <a:avLst/>
          </a:prstGeom>
          <a:noFill/>
          <a:ln/>
        </p:spPr>
        <p:txBody>
          <a:bodyPr wrap="square" rtlCol="0" anchor="ctr"/>
          <a:lstStyle/>
          <a:p>
            <a:pPr marL="0" indent="0" algn="ctr">
              <a:buNone/>
            </a:pPr>
            <a:r>
              <a:rPr lang="en-US" sz="1000" b="1" dirty="0">
                <a:solidFill>
                  <a:srgbClr val="111111"/>
                </a:solidFill>
              </a:rPr>
              <a:t>View A</a:t>
            </a:r>
            <a:endParaRPr lang="en-US" sz="1000" dirty="0"/>
          </a:p>
          <a:p>
            <a:pPr marL="0" indent="0" algn="ctr">
              <a:buNone/>
            </a:pPr>
            <a:r>
              <a:rPr lang="en-US" sz="1000" b="1" dirty="0">
                <a:solidFill>
                  <a:srgbClr val="111111"/>
                </a:solidFill>
              </a:rPr>
              <a:t>crop+colour</a:t>
            </a:r>
            <a:endParaRPr lang="en-US" sz="1000" dirty="0"/>
          </a:p>
        </p:txBody>
      </p:sp>
      <p:sp>
        <p:nvSpPr>
          <p:cNvPr id="15" name="Shape 13"/>
          <p:cNvSpPr/>
          <p:nvPr/>
        </p:nvSpPr>
        <p:spPr>
          <a:xfrm>
            <a:off x="2514600" y="2468880"/>
            <a:ext cx="1280160" cy="502920"/>
          </a:xfrm>
          <a:prstGeom prst="rect">
            <a:avLst/>
          </a:prstGeom>
          <a:solidFill>
            <a:srgbClr val="1565C0">
              <a:alpha val="70000"/>
            </a:srgbClr>
          </a:solidFill>
          <a:ln w="12700">
            <a:solidFill>
              <a:srgbClr val="1565C0"/>
            </a:solidFill>
            <a:prstDash val="solid"/>
          </a:ln>
        </p:spPr>
      </p:sp>
      <p:sp>
        <p:nvSpPr>
          <p:cNvPr id="16" name="Text 14"/>
          <p:cNvSpPr/>
          <p:nvPr/>
        </p:nvSpPr>
        <p:spPr>
          <a:xfrm>
            <a:off x="2514600" y="2468880"/>
            <a:ext cx="1280160" cy="502920"/>
          </a:xfrm>
          <a:prstGeom prst="rect">
            <a:avLst/>
          </a:prstGeom>
          <a:noFill/>
          <a:ln/>
        </p:spPr>
        <p:txBody>
          <a:bodyPr wrap="square" rtlCol="0" anchor="ctr"/>
          <a:lstStyle/>
          <a:p>
            <a:pPr marL="0" indent="0" algn="ctr">
              <a:buNone/>
            </a:pPr>
            <a:r>
              <a:rPr lang="en-US" sz="1000" b="1" dirty="0">
                <a:solidFill>
                  <a:srgbClr val="111111"/>
                </a:solidFill>
              </a:rPr>
              <a:t>View B</a:t>
            </a:r>
            <a:endParaRPr lang="en-US" sz="1000" dirty="0"/>
          </a:p>
          <a:p>
            <a:pPr marL="0" indent="0" algn="ctr">
              <a:buNone/>
            </a:pPr>
            <a:r>
              <a:rPr lang="en-US" sz="1000" b="1" dirty="0">
                <a:solidFill>
                  <a:srgbClr val="111111"/>
                </a:solidFill>
              </a:rPr>
              <a:t>blur+flip</a:t>
            </a:r>
            <a:endParaRPr lang="en-US" sz="1000" dirty="0"/>
          </a:p>
        </p:txBody>
      </p:sp>
      <p:sp>
        <p:nvSpPr>
          <p:cNvPr id="17" name="Shape 15"/>
          <p:cNvSpPr/>
          <p:nvPr/>
        </p:nvSpPr>
        <p:spPr>
          <a:xfrm>
            <a:off x="1051560" y="2971800"/>
            <a:ext cx="0" cy="256032"/>
          </a:xfrm>
          <a:prstGeom prst="line">
            <a:avLst/>
          </a:prstGeom>
          <a:noFill/>
          <a:ln w="19050">
            <a:solidFill>
              <a:srgbClr val="888888"/>
            </a:solidFill>
            <a:prstDash val="solid"/>
          </a:ln>
        </p:spPr>
      </p:sp>
      <p:sp>
        <p:nvSpPr>
          <p:cNvPr id="18" name="Shape 16"/>
          <p:cNvSpPr/>
          <p:nvPr/>
        </p:nvSpPr>
        <p:spPr>
          <a:xfrm>
            <a:off x="3154680" y="2971800"/>
            <a:ext cx="0" cy="256032"/>
          </a:xfrm>
          <a:prstGeom prst="line">
            <a:avLst/>
          </a:prstGeom>
          <a:noFill/>
          <a:ln w="19050">
            <a:solidFill>
              <a:srgbClr val="888888"/>
            </a:solidFill>
            <a:prstDash val="solid"/>
          </a:ln>
        </p:spPr>
      </p:sp>
      <p:sp>
        <p:nvSpPr>
          <p:cNvPr id="19" name="Shape 17"/>
          <p:cNvSpPr/>
          <p:nvPr/>
        </p:nvSpPr>
        <p:spPr>
          <a:xfrm>
            <a:off x="411480" y="3227832"/>
            <a:ext cx="1280160" cy="502920"/>
          </a:xfrm>
          <a:prstGeom prst="rect">
            <a:avLst/>
          </a:prstGeom>
          <a:solidFill>
            <a:srgbClr val="1A237E">
              <a:alpha val="80000"/>
            </a:srgbClr>
          </a:solidFill>
          <a:ln w="12700">
            <a:solidFill>
              <a:srgbClr val="1A237E"/>
            </a:solidFill>
            <a:prstDash val="solid"/>
          </a:ln>
        </p:spPr>
      </p:sp>
      <p:sp>
        <p:nvSpPr>
          <p:cNvPr id="20" name="Text 18"/>
          <p:cNvSpPr/>
          <p:nvPr/>
        </p:nvSpPr>
        <p:spPr>
          <a:xfrm>
            <a:off x="411480" y="3227832"/>
            <a:ext cx="1280160" cy="502920"/>
          </a:xfrm>
          <a:prstGeom prst="rect">
            <a:avLst/>
          </a:prstGeom>
          <a:noFill/>
          <a:ln/>
        </p:spPr>
        <p:txBody>
          <a:bodyPr wrap="square" rtlCol="0" anchor="ctr"/>
          <a:lstStyle/>
          <a:p>
            <a:pPr marL="0" indent="0" algn="ctr">
              <a:buNone/>
            </a:pPr>
            <a:r>
              <a:rPr lang="en-US" sz="1000" b="1" dirty="0">
                <a:solidFill>
                  <a:srgbClr val="FFFFFF"/>
                </a:solidFill>
              </a:rPr>
              <a:t>Encoder f</a:t>
            </a:r>
            <a:endParaRPr lang="en-US" sz="1000" dirty="0"/>
          </a:p>
          <a:p>
            <a:pPr marL="0" indent="0" algn="ctr">
              <a:buNone/>
            </a:pPr>
            <a:r>
              <a:rPr lang="en-US" sz="1000" b="1" dirty="0">
                <a:solidFill>
                  <a:srgbClr val="FFFFFF"/>
                </a:solidFill>
              </a:rPr>
              <a:t>(shared)</a:t>
            </a:r>
            <a:endParaRPr lang="en-US" sz="1000" dirty="0"/>
          </a:p>
        </p:txBody>
      </p:sp>
      <p:sp>
        <p:nvSpPr>
          <p:cNvPr id="21" name="Shape 19"/>
          <p:cNvSpPr/>
          <p:nvPr/>
        </p:nvSpPr>
        <p:spPr>
          <a:xfrm>
            <a:off x="2514600" y="3227832"/>
            <a:ext cx="1280160" cy="502920"/>
          </a:xfrm>
          <a:prstGeom prst="rect">
            <a:avLst/>
          </a:prstGeom>
          <a:solidFill>
            <a:srgbClr val="1A237E">
              <a:alpha val="80000"/>
            </a:srgbClr>
          </a:solidFill>
          <a:ln w="12700">
            <a:solidFill>
              <a:srgbClr val="1A237E"/>
            </a:solidFill>
            <a:prstDash val="solid"/>
          </a:ln>
        </p:spPr>
      </p:sp>
      <p:sp>
        <p:nvSpPr>
          <p:cNvPr id="22" name="Text 20"/>
          <p:cNvSpPr/>
          <p:nvPr/>
        </p:nvSpPr>
        <p:spPr>
          <a:xfrm>
            <a:off x="2514600" y="3227832"/>
            <a:ext cx="1280160" cy="502920"/>
          </a:xfrm>
          <a:prstGeom prst="rect">
            <a:avLst/>
          </a:prstGeom>
          <a:noFill/>
          <a:ln/>
        </p:spPr>
        <p:txBody>
          <a:bodyPr wrap="square" rtlCol="0" anchor="ctr"/>
          <a:lstStyle/>
          <a:p>
            <a:pPr marL="0" indent="0" algn="ctr">
              <a:buNone/>
            </a:pPr>
            <a:r>
              <a:rPr lang="en-US" sz="1000" b="1" dirty="0">
                <a:solidFill>
                  <a:srgbClr val="FFFFFF"/>
                </a:solidFill>
              </a:rPr>
              <a:t>Encoder f</a:t>
            </a:r>
            <a:endParaRPr lang="en-US" sz="1000" dirty="0"/>
          </a:p>
          <a:p>
            <a:pPr marL="0" indent="0" algn="ctr">
              <a:buNone/>
            </a:pPr>
            <a:r>
              <a:rPr lang="en-US" sz="1000" b="1" dirty="0">
                <a:solidFill>
                  <a:srgbClr val="FFFFFF"/>
                </a:solidFill>
              </a:rPr>
              <a:t>(shared)</a:t>
            </a:r>
            <a:endParaRPr lang="en-US" sz="1000" dirty="0"/>
          </a:p>
        </p:txBody>
      </p:sp>
      <p:sp>
        <p:nvSpPr>
          <p:cNvPr id="23" name="Shape 21"/>
          <p:cNvSpPr/>
          <p:nvPr/>
        </p:nvSpPr>
        <p:spPr>
          <a:xfrm>
            <a:off x="1051560" y="3730752"/>
            <a:ext cx="0" cy="246888"/>
          </a:xfrm>
          <a:prstGeom prst="line">
            <a:avLst/>
          </a:prstGeom>
          <a:noFill/>
          <a:ln w="19050">
            <a:solidFill>
              <a:srgbClr val="888888"/>
            </a:solidFill>
            <a:prstDash val="solid"/>
          </a:ln>
        </p:spPr>
      </p:sp>
      <p:sp>
        <p:nvSpPr>
          <p:cNvPr id="24" name="Shape 22"/>
          <p:cNvSpPr/>
          <p:nvPr/>
        </p:nvSpPr>
        <p:spPr>
          <a:xfrm>
            <a:off x="3154680" y="3730752"/>
            <a:ext cx="0" cy="246888"/>
          </a:xfrm>
          <a:prstGeom prst="line">
            <a:avLst/>
          </a:prstGeom>
          <a:noFill/>
          <a:ln w="19050">
            <a:solidFill>
              <a:srgbClr val="888888"/>
            </a:solidFill>
            <a:prstDash val="solid"/>
          </a:ln>
        </p:spPr>
      </p:sp>
      <p:sp>
        <p:nvSpPr>
          <p:cNvPr id="25" name="Shape 23"/>
          <p:cNvSpPr/>
          <p:nvPr/>
        </p:nvSpPr>
        <p:spPr>
          <a:xfrm>
            <a:off x="411480" y="3977640"/>
            <a:ext cx="1280160" cy="457200"/>
          </a:xfrm>
          <a:prstGeom prst="rect">
            <a:avLst/>
          </a:prstGeom>
          <a:solidFill>
            <a:srgbClr val="3949AB">
              <a:alpha val="80000"/>
            </a:srgbClr>
          </a:solidFill>
          <a:ln w="12700">
            <a:solidFill>
              <a:srgbClr val="3949AB"/>
            </a:solidFill>
            <a:prstDash val="solid"/>
          </a:ln>
        </p:spPr>
      </p:sp>
      <p:sp>
        <p:nvSpPr>
          <p:cNvPr id="26" name="Text 24"/>
          <p:cNvSpPr/>
          <p:nvPr/>
        </p:nvSpPr>
        <p:spPr>
          <a:xfrm>
            <a:off x="411480" y="3977640"/>
            <a:ext cx="1280160" cy="457200"/>
          </a:xfrm>
          <a:prstGeom prst="rect">
            <a:avLst/>
          </a:prstGeom>
          <a:noFill/>
          <a:ln/>
        </p:spPr>
        <p:txBody>
          <a:bodyPr wrap="square" rtlCol="0" anchor="ctr"/>
          <a:lstStyle/>
          <a:p>
            <a:pPr marL="0" indent="0" algn="ctr">
              <a:buNone/>
            </a:pPr>
            <a:r>
              <a:rPr lang="en-US" sz="1000" b="1" dirty="0">
                <a:solidFill>
                  <a:srgbClr val="FFFFFF"/>
                </a:solidFill>
              </a:rPr>
              <a:t>Proj → zA</a:t>
            </a:r>
            <a:endParaRPr lang="en-US" sz="1000" dirty="0"/>
          </a:p>
        </p:txBody>
      </p:sp>
      <p:sp>
        <p:nvSpPr>
          <p:cNvPr id="27" name="Shape 25"/>
          <p:cNvSpPr/>
          <p:nvPr/>
        </p:nvSpPr>
        <p:spPr>
          <a:xfrm>
            <a:off x="2514600" y="3977640"/>
            <a:ext cx="1280160" cy="457200"/>
          </a:xfrm>
          <a:prstGeom prst="rect">
            <a:avLst/>
          </a:prstGeom>
          <a:solidFill>
            <a:srgbClr val="3949AB">
              <a:alpha val="80000"/>
            </a:srgbClr>
          </a:solidFill>
          <a:ln w="12700">
            <a:solidFill>
              <a:srgbClr val="3949AB"/>
            </a:solidFill>
            <a:prstDash val="solid"/>
          </a:ln>
        </p:spPr>
      </p:sp>
      <p:sp>
        <p:nvSpPr>
          <p:cNvPr id="28" name="Text 26"/>
          <p:cNvSpPr/>
          <p:nvPr/>
        </p:nvSpPr>
        <p:spPr>
          <a:xfrm>
            <a:off x="2514600" y="3977640"/>
            <a:ext cx="1280160" cy="457200"/>
          </a:xfrm>
          <a:prstGeom prst="rect">
            <a:avLst/>
          </a:prstGeom>
          <a:noFill/>
          <a:ln/>
        </p:spPr>
        <p:txBody>
          <a:bodyPr wrap="square" rtlCol="0" anchor="ctr"/>
          <a:lstStyle/>
          <a:p>
            <a:pPr marL="0" indent="0" algn="ctr">
              <a:buNone/>
            </a:pPr>
            <a:r>
              <a:rPr lang="en-US" sz="1000" b="1" dirty="0">
                <a:solidFill>
                  <a:srgbClr val="FFFFFF"/>
                </a:solidFill>
              </a:rPr>
              <a:t>Proj → zB</a:t>
            </a:r>
            <a:endParaRPr lang="en-US" sz="1000" dirty="0"/>
          </a:p>
        </p:txBody>
      </p:sp>
      <p:sp>
        <p:nvSpPr>
          <p:cNvPr id="29" name="Shape 27"/>
          <p:cNvSpPr/>
          <p:nvPr/>
        </p:nvSpPr>
        <p:spPr>
          <a:xfrm>
            <a:off x="1051560" y="4434840"/>
            <a:ext cx="0" cy="228600"/>
          </a:xfrm>
          <a:prstGeom prst="line">
            <a:avLst/>
          </a:prstGeom>
          <a:noFill/>
          <a:ln w="19050">
            <a:solidFill>
              <a:srgbClr val="CC2200"/>
            </a:solidFill>
            <a:prstDash val="solid"/>
          </a:ln>
        </p:spPr>
      </p:sp>
      <p:sp>
        <p:nvSpPr>
          <p:cNvPr id="30" name="Shape 28"/>
          <p:cNvSpPr/>
          <p:nvPr/>
        </p:nvSpPr>
        <p:spPr>
          <a:xfrm>
            <a:off x="3154680" y="4434840"/>
            <a:ext cx="0" cy="228600"/>
          </a:xfrm>
          <a:prstGeom prst="line">
            <a:avLst/>
          </a:prstGeom>
          <a:noFill/>
          <a:ln w="19050">
            <a:solidFill>
              <a:srgbClr val="CC2200"/>
            </a:solidFill>
            <a:prstDash val="solid"/>
          </a:ln>
        </p:spPr>
      </p:sp>
      <p:sp>
        <p:nvSpPr>
          <p:cNvPr id="31" name="Shape 29"/>
          <p:cNvSpPr/>
          <p:nvPr/>
        </p:nvSpPr>
        <p:spPr>
          <a:xfrm>
            <a:off x="1051560" y="4663440"/>
            <a:ext cx="2103120" cy="0"/>
          </a:xfrm>
          <a:prstGeom prst="line">
            <a:avLst/>
          </a:prstGeom>
          <a:noFill/>
          <a:ln w="19050">
            <a:solidFill>
              <a:srgbClr val="CC2200"/>
            </a:solidFill>
            <a:prstDash val="solid"/>
          </a:ln>
        </p:spPr>
      </p:sp>
      <p:sp>
        <p:nvSpPr>
          <p:cNvPr id="32" name="Shape 30"/>
          <p:cNvSpPr/>
          <p:nvPr/>
        </p:nvSpPr>
        <p:spPr>
          <a:xfrm>
            <a:off x="777240" y="4576572"/>
            <a:ext cx="2651760" cy="566928"/>
          </a:xfrm>
          <a:prstGeom prst="rect">
            <a:avLst/>
          </a:prstGeom>
          <a:solidFill>
            <a:srgbClr val="CC2200">
              <a:alpha val="80000"/>
            </a:srgbClr>
          </a:solidFill>
          <a:ln w="12700">
            <a:solidFill>
              <a:srgbClr val="CC2200"/>
            </a:solidFill>
            <a:prstDash val="solid"/>
          </a:ln>
        </p:spPr>
      </p:sp>
      <p:sp>
        <p:nvSpPr>
          <p:cNvPr id="33" name="Text 31"/>
          <p:cNvSpPr/>
          <p:nvPr/>
        </p:nvSpPr>
        <p:spPr>
          <a:xfrm>
            <a:off x="777240" y="4663440"/>
            <a:ext cx="2651760" cy="566928"/>
          </a:xfrm>
          <a:prstGeom prst="rect">
            <a:avLst/>
          </a:prstGeom>
          <a:noFill/>
          <a:ln/>
        </p:spPr>
        <p:txBody>
          <a:bodyPr wrap="square" rtlCol="0" anchor="ctr"/>
          <a:lstStyle/>
          <a:p>
            <a:pPr marL="0" indent="0" algn="ctr">
              <a:buNone/>
            </a:pPr>
            <a:r>
              <a:rPr lang="en-US" sz="1000" b="1" dirty="0">
                <a:solidFill>
                  <a:srgbClr val="880000"/>
                </a:solidFill>
              </a:rPr>
              <a:t>Cross-correlation C = zAᵀzB / N → Identity</a:t>
            </a:r>
            <a:endParaRPr lang="en-US" sz="1000" dirty="0"/>
          </a:p>
        </p:txBody>
      </p:sp>
      <p:sp>
        <p:nvSpPr>
          <p:cNvPr id="34" name="Shape 32"/>
          <p:cNvSpPr/>
          <p:nvPr/>
        </p:nvSpPr>
        <p:spPr>
          <a:xfrm>
            <a:off x="4069080" y="1508760"/>
            <a:ext cx="4754880" cy="1600200"/>
          </a:xfrm>
          <a:prstGeom prst="rect">
            <a:avLst/>
          </a:prstGeom>
          <a:solidFill>
            <a:srgbClr val="E3F2FD"/>
          </a:solidFill>
          <a:ln w="12700">
            <a:solidFill>
              <a:srgbClr val="1565C0"/>
            </a:solidFill>
            <a:prstDash val="solid"/>
          </a:ln>
        </p:spPr>
      </p:sp>
      <p:sp>
        <p:nvSpPr>
          <p:cNvPr id="35" name="Text 33"/>
          <p:cNvSpPr/>
          <p:nvPr/>
        </p:nvSpPr>
        <p:spPr>
          <a:xfrm>
            <a:off x="4206240" y="1600200"/>
            <a:ext cx="4480560" cy="256032"/>
          </a:xfrm>
          <a:prstGeom prst="rect">
            <a:avLst/>
          </a:prstGeom>
          <a:noFill/>
          <a:ln/>
        </p:spPr>
        <p:txBody>
          <a:bodyPr wrap="square" rtlCol="0" anchor="ctr"/>
          <a:lstStyle/>
          <a:p>
            <a:pPr marL="0" indent="0">
              <a:buNone/>
            </a:pPr>
            <a:r>
              <a:rPr lang="en-US" sz="1200" b="1" dirty="0">
                <a:solidFill>
                  <a:srgbClr val="1565C0"/>
                </a:solidFill>
              </a:rPr>
              <a:t>Objective</a:t>
            </a:r>
            <a:endParaRPr lang="en-US" sz="1200" dirty="0"/>
          </a:p>
        </p:txBody>
      </p:sp>
      <p:sp>
        <p:nvSpPr>
          <p:cNvPr id="36" name="Text 34"/>
          <p:cNvSpPr/>
          <p:nvPr/>
        </p:nvSpPr>
        <p:spPr>
          <a:xfrm>
            <a:off x="4206240" y="1892808"/>
            <a:ext cx="4480560" cy="384048"/>
          </a:xfrm>
          <a:prstGeom prst="rect">
            <a:avLst/>
          </a:prstGeom>
          <a:noFill/>
          <a:ln/>
        </p:spPr>
        <p:txBody>
          <a:bodyPr wrap="square" rtlCol="0" anchor="ctr"/>
          <a:lstStyle/>
          <a:p>
            <a:pPr marL="0" indent="0">
              <a:buNone/>
            </a:pPr>
            <a:r>
              <a:rPr lang="en-US" sz="1200" b="1" dirty="0">
                <a:solidFill>
                  <a:srgbClr val="222222"/>
                </a:solidFill>
                <a:latin typeface="Consolas" pitchFamily="34" charset="0"/>
                <a:ea typeface="Consolas" pitchFamily="34" charset="-122"/>
                <a:cs typeface="Consolas" pitchFamily="34" charset="-120"/>
              </a:rPr>
              <a:t>L = Σᵢ(1−Cᵢᵢ)² + λ Σᵢ Σⱼ≠ᵢ Cᵢⱼ²</a:t>
            </a:r>
            <a:endParaRPr lang="en-US" sz="1200" dirty="0"/>
          </a:p>
        </p:txBody>
      </p:sp>
      <p:sp>
        <p:nvSpPr>
          <p:cNvPr id="37" name="Text 35"/>
          <p:cNvSpPr/>
          <p:nvPr/>
        </p:nvSpPr>
        <p:spPr>
          <a:xfrm>
            <a:off x="4206240" y="2304288"/>
            <a:ext cx="4480560" cy="685800"/>
          </a:xfrm>
          <a:prstGeom prst="rect">
            <a:avLst/>
          </a:prstGeom>
          <a:noFill/>
          <a:ln/>
        </p:spPr>
        <p:txBody>
          <a:bodyPr wrap="square" rtlCol="0" anchor="ctr"/>
          <a:lstStyle/>
          <a:p>
            <a:pPr marL="0" indent="0">
              <a:lnSpc>
                <a:spcPct val="130000"/>
              </a:lnSpc>
              <a:buNone/>
            </a:pPr>
            <a:r>
              <a:rPr lang="en-US" sz="1000" b="1" dirty="0">
                <a:solidFill>
                  <a:srgbClr val="1565C0"/>
                </a:solidFill>
              </a:rPr>
              <a:t>Term 1: </a:t>
            </a:r>
            <a:r>
              <a:rPr lang="en-US" sz="1000" dirty="0">
                <a:solidFill>
                  <a:srgbClr val="333333"/>
                </a:solidFill>
              </a:rPr>
              <a:t>diagonal → 1 (same features match across views)
</a:t>
            </a:r>
            <a:r>
              <a:rPr lang="en-US" sz="1000" b="1" dirty="0">
                <a:solidFill>
                  <a:srgbClr val="1565C0"/>
                </a:solidFill>
              </a:rPr>
              <a:t>Term 2: </a:t>
            </a:r>
            <a:r>
              <a:rPr lang="en-US" sz="1000" dirty="0">
                <a:solidFill>
                  <a:srgbClr val="333333"/>
                </a:solidFill>
              </a:rPr>
              <a:t>off-diagonal → 0 (different features stay decorrelated)</a:t>
            </a:r>
            <a:endParaRPr lang="en-US" sz="1000" dirty="0"/>
          </a:p>
        </p:txBody>
      </p:sp>
      <p:sp>
        <p:nvSpPr>
          <p:cNvPr id="38" name="Shape 36"/>
          <p:cNvSpPr/>
          <p:nvPr/>
        </p:nvSpPr>
        <p:spPr>
          <a:xfrm>
            <a:off x="4069080" y="3227832"/>
            <a:ext cx="4754880" cy="347472"/>
          </a:xfrm>
          <a:prstGeom prst="rect">
            <a:avLst/>
          </a:prstGeom>
          <a:solidFill>
            <a:srgbClr val="1565C0"/>
          </a:solidFill>
          <a:ln w="12700">
            <a:solidFill>
              <a:srgbClr val="1565C0"/>
            </a:solidFill>
            <a:prstDash val="solid"/>
          </a:ln>
        </p:spPr>
      </p:sp>
      <p:sp>
        <p:nvSpPr>
          <p:cNvPr id="39" name="Text 37"/>
          <p:cNvSpPr/>
          <p:nvPr/>
        </p:nvSpPr>
        <p:spPr>
          <a:xfrm>
            <a:off x="4206240" y="3227832"/>
            <a:ext cx="4480560" cy="347472"/>
          </a:xfrm>
          <a:prstGeom prst="rect">
            <a:avLst/>
          </a:prstGeom>
          <a:noFill/>
          <a:ln/>
        </p:spPr>
        <p:txBody>
          <a:bodyPr wrap="square" rtlCol="0" anchor="ctr"/>
          <a:lstStyle/>
          <a:p>
            <a:pPr marL="0" indent="0">
              <a:buNone/>
            </a:pPr>
            <a:r>
              <a:rPr lang="en-US" sz="1200" b="1" dirty="0">
                <a:solidFill>
                  <a:srgbClr val="FFFFFF"/>
                </a:solidFill>
              </a:rPr>
              <a:t>Why Barlow Twins fits PM25Vision</a:t>
            </a:r>
            <a:endParaRPr lang="en-US" sz="1200" dirty="0"/>
          </a:p>
        </p:txBody>
      </p:sp>
      <p:sp>
        <p:nvSpPr>
          <p:cNvPr id="40" name="Text 38"/>
          <p:cNvSpPr/>
          <p:nvPr/>
        </p:nvSpPr>
        <p:spPr>
          <a:xfrm>
            <a:off x="4206240" y="3611880"/>
            <a:ext cx="4480560" cy="1325880"/>
          </a:xfrm>
          <a:prstGeom prst="rect">
            <a:avLst/>
          </a:prstGeom>
          <a:noFill/>
          <a:ln/>
        </p:spPr>
        <p:txBody>
          <a:bodyPr wrap="square" rtlCol="0" anchor="ctr"/>
          <a:lstStyle/>
          <a:p>
            <a:pPr marL="342900" indent="-342900">
              <a:lnSpc>
                <a:spcPct val="130000"/>
              </a:lnSpc>
              <a:buSzPct val="100000"/>
              <a:buChar char="•"/>
            </a:pPr>
            <a:r>
              <a:rPr lang="en-US" sz="1100" dirty="0">
                <a:solidFill>
                  <a:srgbClr val="222222"/>
                </a:solidFill>
              </a:rPr>
              <a:t>Batch-size independent loss — batch 32 gives same quality as batch 2048.</a:t>
            </a:r>
            <a:endParaRPr lang="en-US" sz="1100" dirty="0"/>
          </a:p>
          <a:p>
            <a:pPr marL="342900" indent="-342900">
              <a:lnSpc>
                <a:spcPct val="130000"/>
              </a:lnSpc>
              <a:buSzPct val="100000"/>
              <a:buChar char="•"/>
            </a:pPr>
            <a:r>
              <a:rPr lang="en-US" sz="1100" dirty="0">
                <a:solidFill>
                  <a:srgbClr val="222222"/>
                </a:solidFill>
              </a:rPr>
              <a:t>No negatives, no momentum network — simplest to implement and debug.</a:t>
            </a:r>
            <a:endParaRPr lang="en-US" sz="1100" dirty="0"/>
          </a:p>
          <a:p>
            <a:pPr marL="342900" indent="-342900">
              <a:lnSpc>
                <a:spcPct val="130000"/>
              </a:lnSpc>
              <a:buSzPct val="100000"/>
              <a:buChar char="•"/>
            </a:pPr>
            <a:r>
              <a:rPr lang="en-US" sz="1100" dirty="0">
                <a:solidFill>
                  <a:srgbClr val="222222"/>
                </a:solidFill>
              </a:rPr>
              <a:t>Consistently outperforms SimCLR at small batch in published benchmarks.</a:t>
            </a:r>
            <a:endParaRPr lang="en-US" sz="1100" dirty="0"/>
          </a:p>
        </p:txBody>
      </p:sp>
      <p:sp>
        <p:nvSpPr>
          <p:cNvPr id="41" name="Text 39"/>
          <p:cNvSpPr/>
          <p:nvPr/>
        </p:nvSpPr>
        <p:spPr>
          <a:xfrm>
            <a:off x="320040" y="4956048"/>
            <a:ext cx="8503920" cy="164592"/>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8B5500"/>
          </a:solidFill>
          <a:ln w="12700">
            <a:solidFill>
              <a:srgbClr val="8B5500"/>
            </a:solidFill>
            <a:prstDash val="solid"/>
          </a:ln>
        </p:spPr>
      </p:sp>
      <p:sp>
        <p:nvSpPr>
          <p:cNvPr id="3" name="Text 1"/>
          <p:cNvSpPr/>
          <p:nvPr/>
        </p:nvSpPr>
        <p:spPr>
          <a:xfrm>
            <a:off x="320040" y="0"/>
            <a:ext cx="7315200" cy="594360"/>
          </a:xfrm>
          <a:prstGeom prst="rect">
            <a:avLst/>
          </a:prstGeom>
          <a:noFill/>
          <a:ln/>
        </p:spPr>
        <p:txBody>
          <a:bodyPr wrap="square" lIns="0" tIns="0" rIns="0" bIns="0" rtlCol="0" anchor="ctr"/>
          <a:lstStyle/>
          <a:p>
            <a:pPr marL="0" indent="0">
              <a:buNone/>
            </a:pPr>
            <a:r>
              <a:rPr lang="en-US" sz="2000" b="1" dirty="0">
                <a:solidFill>
                  <a:srgbClr val="FFFFFF"/>
                </a:solidFill>
              </a:rPr>
              <a:t>Method 3 — DINO  (Self-Distillation with No Labels)</a:t>
            </a:r>
            <a:endParaRPr lang="en-US" sz="2000" dirty="0"/>
          </a:p>
        </p:txBody>
      </p:sp>
      <p:sp>
        <p:nvSpPr>
          <p:cNvPr id="6" name="Shape 4"/>
          <p:cNvSpPr/>
          <p:nvPr/>
        </p:nvSpPr>
        <p:spPr>
          <a:xfrm>
            <a:off x="320040" y="731520"/>
            <a:ext cx="8503920" cy="658368"/>
          </a:xfrm>
          <a:prstGeom prst="rect">
            <a:avLst/>
          </a:prstGeom>
          <a:solidFill>
            <a:srgbClr val="FFF8E1"/>
          </a:solidFill>
          <a:ln w="12700">
            <a:solidFill>
              <a:srgbClr val="E9A824"/>
            </a:solidFill>
            <a:prstDash val="solid"/>
          </a:ln>
        </p:spPr>
      </p:sp>
      <p:sp>
        <p:nvSpPr>
          <p:cNvPr id="7" name="Text 5"/>
          <p:cNvSpPr/>
          <p:nvPr/>
        </p:nvSpPr>
        <p:spPr>
          <a:xfrm>
            <a:off x="320040" y="731520"/>
            <a:ext cx="914400" cy="658368"/>
          </a:xfrm>
          <a:prstGeom prst="rect">
            <a:avLst/>
          </a:prstGeom>
          <a:noFill/>
          <a:ln/>
        </p:spPr>
        <p:txBody>
          <a:bodyPr wrap="square" rtlCol="0" anchor="ctr"/>
          <a:lstStyle/>
          <a:p>
            <a:pPr marL="0" indent="0">
              <a:buNone/>
            </a:pPr>
            <a:r>
              <a:rPr lang="en-US" sz="1300" b="1" dirty="0">
                <a:solidFill>
                  <a:srgbClr val="8B5500"/>
                </a:solidFill>
              </a:rPr>
              <a:t>Intuition: </a:t>
            </a:r>
            <a:endParaRPr lang="en-US" sz="1300" dirty="0"/>
          </a:p>
        </p:txBody>
      </p:sp>
      <p:sp>
        <p:nvSpPr>
          <p:cNvPr id="8" name="Text 6"/>
          <p:cNvSpPr/>
          <p:nvPr/>
        </p:nvSpPr>
        <p:spPr>
          <a:xfrm>
            <a:off x="1234440" y="731520"/>
            <a:ext cx="7452360" cy="658368"/>
          </a:xfrm>
          <a:prstGeom prst="rect">
            <a:avLst/>
          </a:prstGeom>
          <a:noFill/>
          <a:ln/>
        </p:spPr>
        <p:txBody>
          <a:bodyPr wrap="square" rtlCol="0" anchor="ctr"/>
          <a:lstStyle/>
          <a:p>
            <a:pPr marL="0" indent="0">
              <a:lnSpc>
                <a:spcPct val="120000"/>
              </a:lnSpc>
              <a:buNone/>
            </a:pPr>
            <a:r>
              <a:rPr lang="en-US" sz="1200" dirty="0">
                <a:solidFill>
                  <a:srgbClr val="222222"/>
                </a:solidFill>
              </a:rPr>
              <a:t>DINO uses multi-crop: one large "global" crop sees the whole hazy scene; several small "local" crops see patches. The student sees local patches and must predict what the teacher sees globally. This forces the model to understand the whole scene from a small piece — perfect for haze estimation where global context matters.</a:t>
            </a:r>
            <a:endParaRPr lang="en-US" sz="1200" dirty="0"/>
          </a:p>
        </p:txBody>
      </p:sp>
      <p:sp>
        <p:nvSpPr>
          <p:cNvPr id="9" name="Shape 7"/>
          <p:cNvSpPr/>
          <p:nvPr/>
        </p:nvSpPr>
        <p:spPr>
          <a:xfrm>
            <a:off x="1234440" y="1508760"/>
            <a:ext cx="1737360" cy="594360"/>
          </a:xfrm>
          <a:prstGeom prst="rect">
            <a:avLst/>
          </a:prstGeom>
          <a:solidFill>
            <a:srgbClr val="E9A824">
              <a:alpha val="70000"/>
            </a:srgbClr>
          </a:solidFill>
          <a:ln w="12700">
            <a:solidFill>
              <a:srgbClr val="E9A824"/>
            </a:solidFill>
            <a:prstDash val="solid"/>
          </a:ln>
        </p:spPr>
      </p:sp>
      <p:sp>
        <p:nvSpPr>
          <p:cNvPr id="10" name="Text 8"/>
          <p:cNvSpPr/>
          <p:nvPr/>
        </p:nvSpPr>
        <p:spPr>
          <a:xfrm>
            <a:off x="1234440" y="1508760"/>
            <a:ext cx="1737360" cy="594360"/>
          </a:xfrm>
          <a:prstGeom prst="rect">
            <a:avLst/>
          </a:prstGeom>
          <a:noFill/>
          <a:ln/>
        </p:spPr>
        <p:txBody>
          <a:bodyPr wrap="square" rtlCol="0" anchor="ctr"/>
          <a:lstStyle/>
          <a:p>
            <a:pPr marL="0" indent="0" algn="ctr">
              <a:buNone/>
            </a:pPr>
            <a:r>
              <a:rPr lang="en-US" sz="1100" b="1" dirty="0">
                <a:solidFill>
                  <a:srgbClr val="333333"/>
                </a:solidFill>
              </a:rPr>
              <a:t>PM2.5 image</a:t>
            </a:r>
            <a:endParaRPr lang="en-US" sz="1100" dirty="0"/>
          </a:p>
        </p:txBody>
      </p:sp>
      <p:sp>
        <p:nvSpPr>
          <p:cNvPr id="11" name="Shape 9"/>
          <p:cNvSpPr/>
          <p:nvPr/>
        </p:nvSpPr>
        <p:spPr>
          <a:xfrm>
            <a:off x="1417320" y="2103120"/>
            <a:ext cx="0" cy="320040"/>
          </a:xfrm>
          <a:prstGeom prst="line">
            <a:avLst/>
          </a:prstGeom>
          <a:noFill/>
          <a:ln w="19050">
            <a:solidFill>
              <a:srgbClr val="888888"/>
            </a:solidFill>
            <a:prstDash val="solid"/>
          </a:ln>
        </p:spPr>
      </p:sp>
      <p:sp>
        <p:nvSpPr>
          <p:cNvPr id="12" name="Shape 10"/>
          <p:cNvSpPr/>
          <p:nvPr/>
        </p:nvSpPr>
        <p:spPr>
          <a:xfrm>
            <a:off x="2697480" y="2103120"/>
            <a:ext cx="0" cy="320040"/>
          </a:xfrm>
          <a:prstGeom prst="line">
            <a:avLst/>
          </a:prstGeom>
          <a:noFill/>
          <a:ln w="19050">
            <a:solidFill>
              <a:srgbClr val="888888"/>
            </a:solidFill>
            <a:prstDash val="solid"/>
          </a:ln>
        </p:spPr>
      </p:sp>
      <p:sp>
        <p:nvSpPr>
          <p:cNvPr id="13" name="Shape 11"/>
          <p:cNvSpPr/>
          <p:nvPr/>
        </p:nvSpPr>
        <p:spPr>
          <a:xfrm>
            <a:off x="1417320" y="2423160"/>
            <a:ext cx="1280160" cy="0"/>
          </a:xfrm>
          <a:prstGeom prst="line">
            <a:avLst/>
          </a:prstGeom>
          <a:noFill/>
          <a:ln w="19050">
            <a:solidFill>
              <a:srgbClr val="888888"/>
            </a:solidFill>
            <a:prstDash val="solid"/>
          </a:ln>
        </p:spPr>
      </p:sp>
      <p:sp>
        <p:nvSpPr>
          <p:cNvPr id="14" name="Shape 12"/>
          <p:cNvSpPr/>
          <p:nvPr/>
        </p:nvSpPr>
        <p:spPr>
          <a:xfrm>
            <a:off x="1828800" y="2423160"/>
            <a:ext cx="1463040" cy="502920"/>
          </a:xfrm>
          <a:prstGeom prst="rect">
            <a:avLst/>
          </a:prstGeom>
          <a:solidFill>
            <a:srgbClr val="6A1B9A">
              <a:alpha val="80000"/>
            </a:srgbClr>
          </a:solidFill>
          <a:ln w="25400">
            <a:solidFill>
              <a:srgbClr val="6A1B9A"/>
            </a:solidFill>
            <a:prstDash val="solid"/>
          </a:ln>
        </p:spPr>
      </p:sp>
      <p:sp>
        <p:nvSpPr>
          <p:cNvPr id="15" name="Text 13"/>
          <p:cNvSpPr/>
          <p:nvPr/>
        </p:nvSpPr>
        <p:spPr>
          <a:xfrm>
            <a:off x="1828800" y="2423160"/>
            <a:ext cx="1463040" cy="502920"/>
          </a:xfrm>
          <a:prstGeom prst="rect">
            <a:avLst/>
          </a:prstGeom>
          <a:noFill/>
          <a:ln/>
        </p:spPr>
        <p:txBody>
          <a:bodyPr wrap="square" rtlCol="0" anchor="ctr"/>
          <a:lstStyle/>
          <a:p>
            <a:pPr marL="0" indent="0" algn="ctr">
              <a:buNone/>
            </a:pPr>
            <a:r>
              <a:rPr lang="en-US" sz="1000" b="1" dirty="0">
                <a:solidFill>
                  <a:srgbClr val="FFFFFF"/>
                </a:solidFill>
              </a:rPr>
              <a:t>Global crop</a:t>
            </a:r>
            <a:endParaRPr lang="en-US" sz="1000" dirty="0"/>
          </a:p>
          <a:p>
            <a:pPr marL="0" indent="0" algn="ctr">
              <a:buNone/>
            </a:pPr>
            <a:r>
              <a:rPr lang="en-US" sz="1000" b="1" dirty="0">
                <a:solidFill>
                  <a:srgbClr val="FFFFFF"/>
                </a:solidFill>
              </a:rPr>
              <a:t>(224×224)</a:t>
            </a:r>
            <a:endParaRPr lang="en-US" sz="1000" dirty="0"/>
          </a:p>
        </p:txBody>
      </p:sp>
      <p:sp>
        <p:nvSpPr>
          <p:cNvPr id="16" name="Shape 14"/>
          <p:cNvSpPr/>
          <p:nvPr/>
        </p:nvSpPr>
        <p:spPr>
          <a:xfrm>
            <a:off x="1417320" y="2423160"/>
            <a:ext cx="0" cy="320040"/>
          </a:xfrm>
          <a:prstGeom prst="line">
            <a:avLst/>
          </a:prstGeom>
          <a:noFill/>
          <a:ln w="19050">
            <a:solidFill>
              <a:srgbClr val="888888"/>
            </a:solidFill>
            <a:prstDash val="solid"/>
          </a:ln>
        </p:spPr>
      </p:sp>
      <p:sp>
        <p:nvSpPr>
          <p:cNvPr id="17" name="Shape 15"/>
          <p:cNvSpPr/>
          <p:nvPr/>
        </p:nvSpPr>
        <p:spPr>
          <a:xfrm>
            <a:off x="411480" y="2743200"/>
            <a:ext cx="914400" cy="457200"/>
          </a:xfrm>
          <a:prstGeom prst="rect">
            <a:avLst/>
          </a:prstGeom>
          <a:solidFill>
            <a:srgbClr val="1565C0">
              <a:alpha val="70000"/>
            </a:srgbClr>
          </a:solidFill>
          <a:ln w="12700">
            <a:solidFill>
              <a:srgbClr val="1565C0"/>
            </a:solidFill>
            <a:prstDash val="solid"/>
          </a:ln>
        </p:spPr>
      </p:sp>
      <p:sp>
        <p:nvSpPr>
          <p:cNvPr id="18" name="Text 16"/>
          <p:cNvSpPr/>
          <p:nvPr/>
        </p:nvSpPr>
        <p:spPr>
          <a:xfrm>
            <a:off x="411480" y="2743200"/>
            <a:ext cx="914400" cy="457200"/>
          </a:xfrm>
          <a:prstGeom prst="rect">
            <a:avLst/>
          </a:prstGeom>
          <a:noFill/>
          <a:ln/>
        </p:spPr>
        <p:txBody>
          <a:bodyPr wrap="square" rtlCol="0" anchor="ctr"/>
          <a:lstStyle/>
          <a:p>
            <a:pPr marL="0" indent="0" algn="ctr">
              <a:buNone/>
            </a:pPr>
            <a:r>
              <a:rPr lang="en-US" sz="900" b="1" dirty="0">
                <a:solidFill>
                  <a:srgbClr val="111111"/>
                </a:solidFill>
              </a:rPr>
              <a:t>Local 1</a:t>
            </a:r>
            <a:endParaRPr lang="en-US" sz="900" dirty="0"/>
          </a:p>
          <a:p>
            <a:pPr marL="0" indent="0" algn="ctr">
              <a:buNone/>
            </a:pPr>
            <a:r>
              <a:rPr lang="en-US" sz="900" b="1" dirty="0">
                <a:solidFill>
                  <a:srgbClr val="111111"/>
                </a:solidFill>
              </a:rPr>
              <a:t>(96×96)</a:t>
            </a:r>
            <a:endParaRPr lang="en-US" sz="900" dirty="0"/>
          </a:p>
        </p:txBody>
      </p:sp>
      <p:sp>
        <p:nvSpPr>
          <p:cNvPr id="19" name="Shape 17"/>
          <p:cNvSpPr/>
          <p:nvPr/>
        </p:nvSpPr>
        <p:spPr>
          <a:xfrm>
            <a:off x="1371600" y="2743200"/>
            <a:ext cx="914400" cy="457200"/>
          </a:xfrm>
          <a:prstGeom prst="rect">
            <a:avLst/>
          </a:prstGeom>
          <a:solidFill>
            <a:srgbClr val="1565C0">
              <a:alpha val="70000"/>
            </a:srgbClr>
          </a:solidFill>
          <a:ln w="12700">
            <a:solidFill>
              <a:srgbClr val="1565C0"/>
            </a:solidFill>
            <a:prstDash val="solid"/>
          </a:ln>
        </p:spPr>
      </p:sp>
      <p:sp>
        <p:nvSpPr>
          <p:cNvPr id="20" name="Text 18"/>
          <p:cNvSpPr/>
          <p:nvPr/>
        </p:nvSpPr>
        <p:spPr>
          <a:xfrm>
            <a:off x="1371600" y="2743200"/>
            <a:ext cx="914400" cy="457200"/>
          </a:xfrm>
          <a:prstGeom prst="rect">
            <a:avLst/>
          </a:prstGeom>
          <a:noFill/>
          <a:ln/>
        </p:spPr>
        <p:txBody>
          <a:bodyPr wrap="square" rtlCol="0" anchor="ctr"/>
          <a:lstStyle/>
          <a:p>
            <a:pPr marL="0" indent="0" algn="ctr">
              <a:buNone/>
            </a:pPr>
            <a:r>
              <a:rPr lang="en-US" sz="900" b="1" dirty="0">
                <a:solidFill>
                  <a:srgbClr val="111111"/>
                </a:solidFill>
              </a:rPr>
              <a:t>Local 2</a:t>
            </a:r>
            <a:endParaRPr lang="en-US" sz="900" dirty="0"/>
          </a:p>
          <a:p>
            <a:pPr marL="0" indent="0" algn="ctr">
              <a:buNone/>
            </a:pPr>
            <a:r>
              <a:rPr lang="en-US" sz="900" b="1" dirty="0">
                <a:solidFill>
                  <a:srgbClr val="111111"/>
                </a:solidFill>
              </a:rPr>
              <a:t>(96×96)</a:t>
            </a:r>
            <a:endParaRPr lang="en-US" sz="900" dirty="0"/>
          </a:p>
        </p:txBody>
      </p:sp>
      <p:sp>
        <p:nvSpPr>
          <p:cNvPr id="21" name="Shape 19"/>
          <p:cNvSpPr/>
          <p:nvPr/>
        </p:nvSpPr>
        <p:spPr>
          <a:xfrm>
            <a:off x="868680" y="3200400"/>
            <a:ext cx="0" cy="256032"/>
          </a:xfrm>
          <a:prstGeom prst="line">
            <a:avLst/>
          </a:prstGeom>
          <a:noFill/>
          <a:ln w="19050">
            <a:solidFill>
              <a:srgbClr val="888888"/>
            </a:solidFill>
            <a:prstDash val="solid"/>
          </a:ln>
        </p:spPr>
      </p:sp>
      <p:sp>
        <p:nvSpPr>
          <p:cNvPr id="22" name="Shape 20"/>
          <p:cNvSpPr/>
          <p:nvPr/>
        </p:nvSpPr>
        <p:spPr>
          <a:xfrm>
            <a:off x="1828800" y="3200400"/>
            <a:ext cx="0" cy="256032"/>
          </a:xfrm>
          <a:prstGeom prst="line">
            <a:avLst/>
          </a:prstGeom>
          <a:noFill/>
          <a:ln w="19050">
            <a:solidFill>
              <a:srgbClr val="888888"/>
            </a:solidFill>
            <a:prstDash val="solid"/>
          </a:ln>
        </p:spPr>
      </p:sp>
      <p:sp>
        <p:nvSpPr>
          <p:cNvPr id="23" name="Shape 21"/>
          <p:cNvSpPr/>
          <p:nvPr/>
        </p:nvSpPr>
        <p:spPr>
          <a:xfrm>
            <a:off x="2560320" y="2926080"/>
            <a:ext cx="0" cy="530352"/>
          </a:xfrm>
          <a:prstGeom prst="line">
            <a:avLst/>
          </a:prstGeom>
          <a:noFill/>
          <a:ln w="19050">
            <a:solidFill>
              <a:srgbClr val="888888"/>
            </a:solidFill>
            <a:prstDash val="solid"/>
          </a:ln>
        </p:spPr>
      </p:sp>
      <p:sp>
        <p:nvSpPr>
          <p:cNvPr id="24" name="Shape 22"/>
          <p:cNvSpPr/>
          <p:nvPr/>
        </p:nvSpPr>
        <p:spPr>
          <a:xfrm>
            <a:off x="411480" y="3456432"/>
            <a:ext cx="1920240" cy="502920"/>
          </a:xfrm>
          <a:prstGeom prst="rect">
            <a:avLst/>
          </a:prstGeom>
          <a:solidFill>
            <a:srgbClr val="1565C0">
              <a:alpha val="80000"/>
            </a:srgbClr>
          </a:solidFill>
          <a:ln w="12700">
            <a:solidFill>
              <a:srgbClr val="1565C0"/>
            </a:solidFill>
            <a:prstDash val="solid"/>
          </a:ln>
        </p:spPr>
      </p:sp>
      <p:sp>
        <p:nvSpPr>
          <p:cNvPr id="25" name="Text 23"/>
          <p:cNvSpPr/>
          <p:nvPr/>
        </p:nvSpPr>
        <p:spPr>
          <a:xfrm>
            <a:off x="411480" y="3456432"/>
            <a:ext cx="1920240" cy="502920"/>
          </a:xfrm>
          <a:prstGeom prst="rect">
            <a:avLst/>
          </a:prstGeom>
          <a:noFill/>
          <a:ln/>
        </p:spPr>
        <p:txBody>
          <a:bodyPr wrap="square" rtlCol="0" anchor="ctr"/>
          <a:lstStyle/>
          <a:p>
            <a:pPr marL="0" indent="0" algn="ctr">
              <a:buNone/>
            </a:pPr>
            <a:r>
              <a:rPr lang="en-US" sz="1000" b="1" dirty="0">
                <a:solidFill>
                  <a:srgbClr val="FFFFFF"/>
                </a:solidFill>
              </a:rPr>
              <a:t>Student encoder (local views)</a:t>
            </a:r>
            <a:endParaRPr lang="en-US" sz="1000" dirty="0"/>
          </a:p>
        </p:txBody>
      </p:sp>
      <p:sp>
        <p:nvSpPr>
          <p:cNvPr id="26" name="Shape 24"/>
          <p:cNvSpPr/>
          <p:nvPr/>
        </p:nvSpPr>
        <p:spPr>
          <a:xfrm>
            <a:off x="2423160" y="3456432"/>
            <a:ext cx="1417320" cy="502920"/>
          </a:xfrm>
          <a:prstGeom prst="rect">
            <a:avLst/>
          </a:prstGeom>
          <a:solidFill>
            <a:srgbClr val="6A1B9A">
              <a:alpha val="80000"/>
            </a:srgbClr>
          </a:solidFill>
          <a:ln w="12700">
            <a:solidFill>
              <a:srgbClr val="6A1B9A"/>
            </a:solidFill>
            <a:prstDash val="solid"/>
          </a:ln>
        </p:spPr>
      </p:sp>
      <p:sp>
        <p:nvSpPr>
          <p:cNvPr id="27" name="Text 25"/>
          <p:cNvSpPr/>
          <p:nvPr/>
        </p:nvSpPr>
        <p:spPr>
          <a:xfrm>
            <a:off x="2423160" y="3456432"/>
            <a:ext cx="1417320" cy="502920"/>
          </a:xfrm>
          <a:prstGeom prst="rect">
            <a:avLst/>
          </a:prstGeom>
          <a:noFill/>
          <a:ln/>
        </p:spPr>
        <p:txBody>
          <a:bodyPr wrap="square" rtlCol="0" anchor="ctr"/>
          <a:lstStyle/>
          <a:p>
            <a:pPr marL="0" indent="0" algn="ctr">
              <a:buNone/>
            </a:pPr>
            <a:r>
              <a:rPr lang="en-US" sz="1000" b="1" dirty="0">
                <a:solidFill>
                  <a:srgbClr val="FFFFFF"/>
                </a:solidFill>
              </a:rPr>
              <a:t>Teacher enc</a:t>
            </a:r>
            <a:endParaRPr lang="en-US" sz="1000" dirty="0"/>
          </a:p>
          <a:p>
            <a:pPr marL="0" indent="0" algn="ctr">
              <a:buNone/>
            </a:pPr>
            <a:r>
              <a:rPr lang="en-US" sz="1000" b="1" dirty="0">
                <a:solidFill>
                  <a:srgbClr val="FFFFFF"/>
                </a:solidFill>
              </a:rPr>
              <a:t>(EMA, global)</a:t>
            </a:r>
            <a:endParaRPr lang="en-US" sz="1000" dirty="0"/>
          </a:p>
        </p:txBody>
      </p:sp>
      <p:sp>
        <p:nvSpPr>
          <p:cNvPr id="28" name="Shape 26"/>
          <p:cNvSpPr/>
          <p:nvPr/>
        </p:nvSpPr>
        <p:spPr>
          <a:xfrm>
            <a:off x="1371600" y="3959352"/>
            <a:ext cx="0" cy="256032"/>
          </a:xfrm>
          <a:prstGeom prst="line">
            <a:avLst/>
          </a:prstGeom>
          <a:noFill/>
          <a:ln w="19050">
            <a:solidFill>
              <a:srgbClr val="CC2200"/>
            </a:solidFill>
            <a:prstDash val="solid"/>
          </a:ln>
        </p:spPr>
      </p:sp>
      <p:sp>
        <p:nvSpPr>
          <p:cNvPr id="29" name="Shape 27"/>
          <p:cNvSpPr/>
          <p:nvPr/>
        </p:nvSpPr>
        <p:spPr>
          <a:xfrm>
            <a:off x="3127248" y="3959352"/>
            <a:ext cx="0" cy="256032"/>
          </a:xfrm>
          <a:prstGeom prst="line">
            <a:avLst/>
          </a:prstGeom>
          <a:noFill/>
          <a:ln w="19050">
            <a:solidFill>
              <a:srgbClr val="CC2200"/>
            </a:solidFill>
            <a:prstDash val="dash"/>
          </a:ln>
        </p:spPr>
      </p:sp>
      <p:sp>
        <p:nvSpPr>
          <p:cNvPr id="30" name="Shape 28"/>
          <p:cNvSpPr/>
          <p:nvPr/>
        </p:nvSpPr>
        <p:spPr>
          <a:xfrm>
            <a:off x="1371600" y="4215384"/>
            <a:ext cx="1755648" cy="0"/>
          </a:xfrm>
          <a:prstGeom prst="line">
            <a:avLst/>
          </a:prstGeom>
          <a:noFill/>
          <a:ln w="19050">
            <a:solidFill>
              <a:srgbClr val="CC2200"/>
            </a:solidFill>
            <a:prstDash val="solid"/>
          </a:ln>
        </p:spPr>
      </p:sp>
      <p:sp>
        <p:nvSpPr>
          <p:cNvPr id="31" name="Shape 29"/>
          <p:cNvSpPr/>
          <p:nvPr/>
        </p:nvSpPr>
        <p:spPr>
          <a:xfrm>
            <a:off x="777240" y="4215384"/>
            <a:ext cx="2606040" cy="530352"/>
          </a:xfrm>
          <a:prstGeom prst="rect">
            <a:avLst/>
          </a:prstGeom>
          <a:solidFill>
            <a:srgbClr val="CC2200">
              <a:alpha val="80000"/>
            </a:srgbClr>
          </a:solidFill>
          <a:ln w="12700">
            <a:solidFill>
              <a:srgbClr val="CC2200"/>
            </a:solidFill>
            <a:prstDash val="solid"/>
          </a:ln>
        </p:spPr>
      </p:sp>
      <p:sp>
        <p:nvSpPr>
          <p:cNvPr id="32" name="Text 30"/>
          <p:cNvSpPr/>
          <p:nvPr/>
        </p:nvSpPr>
        <p:spPr>
          <a:xfrm>
            <a:off x="777240" y="4215384"/>
            <a:ext cx="2606040" cy="530352"/>
          </a:xfrm>
          <a:prstGeom prst="rect">
            <a:avLst/>
          </a:prstGeom>
          <a:noFill/>
          <a:ln/>
        </p:spPr>
        <p:txBody>
          <a:bodyPr wrap="square" rtlCol="0" anchor="ctr"/>
          <a:lstStyle/>
          <a:p>
            <a:pPr marL="0" indent="0" algn="ctr">
              <a:buNone/>
            </a:pPr>
            <a:r>
              <a:rPr lang="en-US" sz="1000" b="1" dirty="0">
                <a:solidFill>
                  <a:srgbClr val="880000"/>
                </a:solidFill>
              </a:rPr>
              <a:t>Cross-entropy H(teacher, student)</a:t>
            </a:r>
            <a:endParaRPr lang="en-US" sz="1000" dirty="0"/>
          </a:p>
        </p:txBody>
      </p:sp>
      <p:sp>
        <p:nvSpPr>
          <p:cNvPr id="33" name="Text 31"/>
          <p:cNvSpPr/>
          <p:nvPr/>
        </p:nvSpPr>
        <p:spPr>
          <a:xfrm>
            <a:off x="411480" y="4764024"/>
            <a:ext cx="3474720" cy="274320"/>
          </a:xfrm>
          <a:prstGeom prst="rect">
            <a:avLst/>
          </a:prstGeom>
          <a:noFill/>
          <a:ln/>
        </p:spPr>
        <p:txBody>
          <a:bodyPr wrap="square" rtlCol="0" anchor="ctr"/>
          <a:lstStyle/>
          <a:p>
            <a:pPr marL="0" indent="0" algn="ctr">
              <a:buNone/>
            </a:pPr>
            <a:r>
              <a:rPr lang="en-US" sz="900" i="1" dirty="0">
                <a:solidFill>
                  <a:srgbClr val="555555"/>
                </a:solidFill>
              </a:rPr>
              <a:t>Centering + sharpening prevent collapse (no negatives needed)</a:t>
            </a:r>
            <a:endParaRPr lang="en-US" sz="900" dirty="0"/>
          </a:p>
        </p:txBody>
      </p:sp>
      <p:sp>
        <p:nvSpPr>
          <p:cNvPr id="34" name="Shape 32"/>
          <p:cNvSpPr/>
          <p:nvPr/>
        </p:nvSpPr>
        <p:spPr>
          <a:xfrm>
            <a:off x="4069080" y="1508760"/>
            <a:ext cx="4754880" cy="1508760"/>
          </a:xfrm>
          <a:prstGeom prst="rect">
            <a:avLst/>
          </a:prstGeom>
          <a:solidFill>
            <a:srgbClr val="FFF8E1"/>
          </a:solidFill>
          <a:ln w="12700">
            <a:solidFill>
              <a:srgbClr val="E9A824"/>
            </a:solidFill>
            <a:prstDash val="solid"/>
          </a:ln>
        </p:spPr>
      </p:sp>
      <p:sp>
        <p:nvSpPr>
          <p:cNvPr id="35" name="Text 33"/>
          <p:cNvSpPr/>
          <p:nvPr/>
        </p:nvSpPr>
        <p:spPr>
          <a:xfrm>
            <a:off x="4206240" y="1600200"/>
            <a:ext cx="4480560" cy="256032"/>
          </a:xfrm>
          <a:prstGeom prst="rect">
            <a:avLst/>
          </a:prstGeom>
          <a:noFill/>
          <a:ln/>
        </p:spPr>
        <p:txBody>
          <a:bodyPr wrap="square" rtlCol="0" anchor="ctr"/>
          <a:lstStyle/>
          <a:p>
            <a:pPr marL="0" indent="0">
              <a:buNone/>
            </a:pPr>
            <a:r>
              <a:rPr lang="en-US" sz="1200" b="1" dirty="0">
                <a:solidFill>
                  <a:srgbClr val="8B5500"/>
                </a:solidFill>
              </a:rPr>
              <a:t>Objective</a:t>
            </a:r>
            <a:endParaRPr lang="en-US" sz="1200" dirty="0"/>
          </a:p>
        </p:txBody>
      </p:sp>
      <p:sp>
        <p:nvSpPr>
          <p:cNvPr id="36" name="Text 34"/>
          <p:cNvSpPr/>
          <p:nvPr/>
        </p:nvSpPr>
        <p:spPr>
          <a:xfrm>
            <a:off x="4206240" y="1892808"/>
            <a:ext cx="4480560" cy="384048"/>
          </a:xfrm>
          <a:prstGeom prst="rect">
            <a:avLst/>
          </a:prstGeom>
          <a:noFill/>
          <a:ln/>
        </p:spPr>
        <p:txBody>
          <a:bodyPr wrap="square" rtlCol="0" anchor="ctr"/>
          <a:lstStyle/>
          <a:p>
            <a:pPr marL="0" indent="0">
              <a:buNone/>
            </a:pPr>
            <a:r>
              <a:rPr lang="en-US" sz="1100" b="1" dirty="0">
                <a:solidFill>
                  <a:srgbClr val="222222"/>
                </a:solidFill>
                <a:latin typeface="Consolas" pitchFamily="34" charset="0"/>
                <a:ea typeface="Consolas" pitchFamily="34" charset="-122"/>
                <a:cs typeface="Consolas" pitchFamily="34" charset="-120"/>
              </a:rPr>
              <a:t>L = −Σ P_teacher(x_global) · log P_student(x_local)</a:t>
            </a:r>
            <a:endParaRPr lang="en-US" sz="1100" dirty="0"/>
          </a:p>
        </p:txBody>
      </p:sp>
      <p:sp>
        <p:nvSpPr>
          <p:cNvPr id="37" name="Text 35"/>
          <p:cNvSpPr/>
          <p:nvPr/>
        </p:nvSpPr>
        <p:spPr>
          <a:xfrm>
            <a:off x="4206240" y="2304288"/>
            <a:ext cx="4480560" cy="594360"/>
          </a:xfrm>
          <a:prstGeom prst="rect">
            <a:avLst/>
          </a:prstGeom>
          <a:noFill/>
          <a:ln/>
        </p:spPr>
        <p:txBody>
          <a:bodyPr wrap="square" rtlCol="0" anchor="ctr"/>
          <a:lstStyle/>
          <a:p>
            <a:pPr marL="0" indent="0">
              <a:lnSpc>
                <a:spcPct val="130000"/>
              </a:lnSpc>
              <a:buNone/>
            </a:pPr>
            <a:r>
              <a:rPr lang="en-US" sz="1000" b="1" dirty="0">
                <a:solidFill>
                  <a:srgbClr val="6A1B9A"/>
                </a:solidFill>
              </a:rPr>
              <a:t>Global crop</a:t>
            </a:r>
            <a:r>
              <a:rPr lang="en-US" sz="1000" dirty="0">
                <a:solidFill>
                  <a:srgbClr val="333333"/>
                </a:solidFill>
              </a:rPr>
              <a:t> → teacher softmax (high temperature → soft target)
</a:t>
            </a:r>
            <a:r>
              <a:rPr lang="en-US" sz="1000" b="1" dirty="0">
                <a:solidFill>
                  <a:srgbClr val="1565C0"/>
                </a:solidFill>
              </a:rPr>
              <a:t>Local crops</a:t>
            </a:r>
            <a:r>
              <a:rPr lang="en-US" sz="1000" dirty="0">
                <a:solidFill>
                  <a:srgbClr val="333333"/>
                </a:solidFill>
              </a:rPr>
              <a:t> → student softmax (low temperature → sharp prediction)</a:t>
            </a:r>
            <a:endParaRPr lang="en-US" sz="1000" dirty="0"/>
          </a:p>
        </p:txBody>
      </p:sp>
      <p:sp>
        <p:nvSpPr>
          <p:cNvPr id="38" name="Shape 36"/>
          <p:cNvSpPr/>
          <p:nvPr/>
        </p:nvSpPr>
        <p:spPr>
          <a:xfrm>
            <a:off x="4069080" y="3136392"/>
            <a:ext cx="4754880" cy="347472"/>
          </a:xfrm>
          <a:prstGeom prst="rect">
            <a:avLst/>
          </a:prstGeom>
          <a:solidFill>
            <a:srgbClr val="8B5500"/>
          </a:solidFill>
          <a:ln w="12700">
            <a:solidFill>
              <a:srgbClr val="8B5500"/>
            </a:solidFill>
            <a:prstDash val="solid"/>
          </a:ln>
        </p:spPr>
      </p:sp>
      <p:sp>
        <p:nvSpPr>
          <p:cNvPr id="39" name="Text 37"/>
          <p:cNvSpPr/>
          <p:nvPr/>
        </p:nvSpPr>
        <p:spPr>
          <a:xfrm>
            <a:off x="4206240" y="3136392"/>
            <a:ext cx="4480560" cy="347472"/>
          </a:xfrm>
          <a:prstGeom prst="rect">
            <a:avLst/>
          </a:prstGeom>
          <a:noFill/>
          <a:ln/>
        </p:spPr>
        <p:txBody>
          <a:bodyPr wrap="square" rtlCol="0" anchor="ctr"/>
          <a:lstStyle/>
          <a:p>
            <a:pPr marL="0" indent="0">
              <a:buNone/>
            </a:pPr>
            <a:r>
              <a:rPr lang="en-US" sz="1200" b="1" dirty="0">
                <a:solidFill>
                  <a:srgbClr val="FFFFFF"/>
                </a:solidFill>
              </a:rPr>
              <a:t>Why DINO fits PM25Vision</a:t>
            </a:r>
            <a:endParaRPr lang="en-US" sz="1200" dirty="0"/>
          </a:p>
        </p:txBody>
      </p:sp>
      <p:sp>
        <p:nvSpPr>
          <p:cNvPr id="40" name="Text 38"/>
          <p:cNvSpPr/>
          <p:nvPr/>
        </p:nvSpPr>
        <p:spPr>
          <a:xfrm>
            <a:off x="4206240" y="3520440"/>
            <a:ext cx="4480560" cy="1417320"/>
          </a:xfrm>
          <a:prstGeom prst="rect">
            <a:avLst/>
          </a:prstGeom>
          <a:noFill/>
          <a:ln/>
        </p:spPr>
        <p:txBody>
          <a:bodyPr wrap="square" rtlCol="0" anchor="ctr"/>
          <a:lstStyle/>
          <a:p>
            <a:pPr marL="342900" indent="-342900">
              <a:lnSpc>
                <a:spcPct val="130000"/>
              </a:lnSpc>
              <a:buSzPct val="100000"/>
              <a:buChar char="•"/>
            </a:pPr>
            <a:r>
              <a:rPr lang="en-US" sz="1100" dirty="0">
                <a:solidFill>
                  <a:srgbClr val="222222"/>
                </a:solidFill>
              </a:rPr>
              <a:t>Multi-crop: global view captures full-scene haze level — AQI is a whole-image property, not local.</a:t>
            </a:r>
            <a:endParaRPr lang="en-US" sz="1100" dirty="0"/>
          </a:p>
          <a:p>
            <a:pPr marL="342900" indent="-342900">
              <a:lnSpc>
                <a:spcPct val="130000"/>
              </a:lnSpc>
              <a:buSzPct val="100000"/>
              <a:buChar char="•"/>
            </a:pPr>
            <a:r>
              <a:rPr lang="en-US" sz="1100" dirty="0">
                <a:solidFill>
                  <a:srgbClr val="222222"/>
                </a:solidFill>
              </a:rPr>
              <a:t>Achieves highest linear probe accuracy of any SSL method on small datasets (Caron et al. 2021).</a:t>
            </a:r>
            <a:endParaRPr lang="en-US" sz="1100" dirty="0"/>
          </a:p>
          <a:p>
            <a:pPr marL="342900" indent="-342900">
              <a:lnSpc>
                <a:spcPct val="130000"/>
              </a:lnSpc>
              <a:buSzPct val="100000"/>
              <a:buChar char="•"/>
            </a:pPr>
            <a:r>
              <a:rPr lang="en-US" sz="1100" dirty="0">
                <a:solidFill>
                  <a:srgbClr val="222222"/>
                </a:solidFill>
              </a:rPr>
              <a:t>No negatives + centering/sharpening = stable on imbalanced, small data.</a:t>
            </a:r>
            <a:endParaRPr lang="en-US" sz="1100" dirty="0"/>
          </a:p>
        </p:txBody>
      </p:sp>
      <p:sp>
        <p:nvSpPr>
          <p:cNvPr id="41" name="Text 39"/>
          <p:cNvSpPr/>
          <p:nvPr/>
        </p:nvSpPr>
        <p:spPr>
          <a:xfrm>
            <a:off x="320040" y="4956048"/>
            <a:ext cx="8503920" cy="164592"/>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2E4057"/>
          </a:solidFill>
          <a:ln w="12700">
            <a:solidFill>
              <a:srgbClr val="2E4057"/>
            </a:solidFill>
            <a:prstDash val="solid"/>
          </a:ln>
        </p:spPr>
      </p:sp>
      <p:sp>
        <p:nvSpPr>
          <p:cNvPr id="3" name="Text 1"/>
          <p:cNvSpPr/>
          <p:nvPr/>
        </p:nvSpPr>
        <p:spPr>
          <a:xfrm>
            <a:off x="320040" y="0"/>
            <a:ext cx="8503920" cy="594360"/>
          </a:xfrm>
          <a:prstGeom prst="rect">
            <a:avLst/>
          </a:prstGeom>
          <a:noFill/>
          <a:ln/>
        </p:spPr>
        <p:txBody>
          <a:bodyPr wrap="square" lIns="0" tIns="0" rIns="0" bIns="0" rtlCol="0" anchor="ctr"/>
          <a:lstStyle/>
          <a:p>
            <a:pPr marL="0" indent="0">
              <a:buNone/>
            </a:pPr>
            <a:r>
              <a:rPr lang="en-US" sz="1900" b="1" dirty="0">
                <a:solidFill>
                  <a:srgbClr val="FFFFFF"/>
                </a:solidFill>
              </a:rPr>
              <a:t>Positives &amp; Masking — Augmentation Recipes in Practice</a:t>
            </a:r>
            <a:endParaRPr lang="en-US" sz="1900" dirty="0"/>
          </a:p>
        </p:txBody>
      </p:sp>
      <p:sp>
        <p:nvSpPr>
          <p:cNvPr id="4" name="Shape 2"/>
          <p:cNvSpPr/>
          <p:nvPr/>
        </p:nvSpPr>
        <p:spPr>
          <a:xfrm>
            <a:off x="274320" y="685800"/>
            <a:ext cx="2788920" cy="347472"/>
          </a:xfrm>
          <a:prstGeom prst="rect">
            <a:avLst/>
          </a:prstGeom>
          <a:solidFill>
            <a:srgbClr val="0A9396"/>
          </a:solidFill>
          <a:ln w="12700">
            <a:solidFill>
              <a:srgbClr val="0A9396"/>
            </a:solidFill>
            <a:prstDash val="solid"/>
          </a:ln>
        </p:spPr>
      </p:sp>
      <p:sp>
        <p:nvSpPr>
          <p:cNvPr id="5" name="Text 3"/>
          <p:cNvSpPr/>
          <p:nvPr/>
        </p:nvSpPr>
        <p:spPr>
          <a:xfrm>
            <a:off x="274320" y="685800"/>
            <a:ext cx="2788920" cy="347472"/>
          </a:xfrm>
          <a:prstGeom prst="rect">
            <a:avLst/>
          </a:prstGeom>
          <a:noFill/>
          <a:ln/>
        </p:spPr>
        <p:txBody>
          <a:bodyPr wrap="square" lIns="0" tIns="0" rIns="0" bIns="0" rtlCol="0" anchor="ctr"/>
          <a:lstStyle/>
          <a:p>
            <a:pPr marL="0" indent="0" algn="ctr">
              <a:buNone/>
            </a:pPr>
            <a:r>
              <a:rPr lang="en-US" sz="1050" b="1" dirty="0">
                <a:solidFill>
                  <a:srgbClr val="FFFFFF"/>
                </a:solidFill>
              </a:rPr>
              <a:t>BYOL Augmentations</a:t>
            </a:r>
            <a:endParaRPr lang="en-US" sz="1050" dirty="0"/>
          </a:p>
        </p:txBody>
      </p:sp>
      <p:sp>
        <p:nvSpPr>
          <p:cNvPr id="6" name="Shape 4"/>
          <p:cNvSpPr/>
          <p:nvPr/>
        </p:nvSpPr>
        <p:spPr>
          <a:xfrm>
            <a:off x="274320" y="1033272"/>
            <a:ext cx="2788920" cy="2377440"/>
          </a:xfrm>
          <a:prstGeom prst="rect">
            <a:avLst/>
          </a:prstGeom>
          <a:solidFill>
            <a:srgbClr val="E0F7F6"/>
          </a:solidFill>
          <a:ln w="12700">
            <a:solidFill>
              <a:srgbClr val="0A9396"/>
            </a:solidFill>
            <a:prstDash val="solid"/>
          </a:ln>
        </p:spPr>
      </p:sp>
      <p:sp>
        <p:nvSpPr>
          <p:cNvPr id="7" name="Text 5"/>
          <p:cNvSpPr/>
          <p:nvPr/>
        </p:nvSpPr>
        <p:spPr>
          <a:xfrm>
            <a:off x="365760" y="1097280"/>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View 1: RandomResizedCrop (0.08–1.0) + GaussianBlur p=1.0</a:t>
            </a:r>
            <a:endParaRPr lang="en-US" sz="1000" dirty="0"/>
          </a:p>
        </p:txBody>
      </p:sp>
      <p:sp>
        <p:nvSpPr>
          <p:cNvPr id="8" name="Text 6"/>
          <p:cNvSpPr/>
          <p:nvPr/>
        </p:nvSpPr>
        <p:spPr>
          <a:xfrm>
            <a:off x="365760" y="1536192"/>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View 2: RandomResizedCrop + Solarize p=0.2 + Blur p=0.1</a:t>
            </a:r>
            <a:endParaRPr lang="en-US" sz="1000" dirty="0"/>
          </a:p>
        </p:txBody>
      </p:sp>
      <p:sp>
        <p:nvSpPr>
          <p:cNvPr id="9" name="Text 7"/>
          <p:cNvSpPr/>
          <p:nvPr/>
        </p:nvSpPr>
        <p:spPr>
          <a:xfrm>
            <a:off x="365760" y="1975104"/>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Both: RandomHorizontalFlip p=0.5</a:t>
            </a:r>
            <a:endParaRPr lang="en-US" sz="1000" dirty="0"/>
          </a:p>
        </p:txBody>
      </p:sp>
      <p:sp>
        <p:nvSpPr>
          <p:cNvPr id="10" name="Text 8"/>
          <p:cNvSpPr/>
          <p:nvPr/>
        </p:nvSpPr>
        <p:spPr>
          <a:xfrm>
            <a:off x="365760" y="2414016"/>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Both: ColorJitter p=0.8 (bright, contrast, sat, hue)</a:t>
            </a:r>
            <a:endParaRPr lang="en-US" sz="1000" dirty="0"/>
          </a:p>
        </p:txBody>
      </p:sp>
      <p:sp>
        <p:nvSpPr>
          <p:cNvPr id="11" name="Text 9"/>
          <p:cNvSpPr/>
          <p:nvPr/>
        </p:nvSpPr>
        <p:spPr>
          <a:xfrm>
            <a:off x="365760" y="2852928"/>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Both: RandomGrayscale p=0.2</a:t>
            </a:r>
            <a:endParaRPr lang="en-US" sz="1000" dirty="0"/>
          </a:p>
        </p:txBody>
      </p:sp>
      <p:sp>
        <p:nvSpPr>
          <p:cNvPr id="12" name="Shape 10"/>
          <p:cNvSpPr/>
          <p:nvPr/>
        </p:nvSpPr>
        <p:spPr>
          <a:xfrm>
            <a:off x="274320" y="3447288"/>
            <a:ext cx="2788920" cy="621792"/>
          </a:xfrm>
          <a:prstGeom prst="rect">
            <a:avLst/>
          </a:prstGeom>
          <a:solidFill>
            <a:srgbClr val="0A9396">
              <a:alpha val="20000"/>
            </a:srgbClr>
          </a:solidFill>
          <a:ln w="12700">
            <a:solidFill>
              <a:srgbClr val="0A9396"/>
            </a:solidFill>
            <a:prstDash val="solid"/>
          </a:ln>
        </p:spPr>
      </p:sp>
      <p:sp>
        <p:nvSpPr>
          <p:cNvPr id="13" name="Text 11"/>
          <p:cNvSpPr/>
          <p:nvPr/>
        </p:nvSpPr>
        <p:spPr>
          <a:xfrm>
            <a:off x="365760" y="3447288"/>
            <a:ext cx="2606040" cy="621792"/>
          </a:xfrm>
          <a:prstGeom prst="rect">
            <a:avLst/>
          </a:prstGeom>
          <a:noFill/>
          <a:ln/>
        </p:spPr>
        <p:txBody>
          <a:bodyPr wrap="square" rtlCol="0" anchor="ctr"/>
          <a:lstStyle/>
          <a:p>
            <a:pPr marL="0" indent="0">
              <a:lnSpc>
                <a:spcPct val="125000"/>
              </a:lnSpc>
              <a:buNone/>
            </a:pPr>
            <a:r>
              <a:rPr lang="en-US" sz="1000" i="1" dirty="0">
                <a:solidFill>
                  <a:srgbClr val="222222"/>
                </a:solidFill>
              </a:rPr>
              <a:t>Two asymmetric views</a:t>
            </a:r>
            <a:endParaRPr lang="en-US" sz="1000" dirty="0"/>
          </a:p>
          <a:p>
            <a:pPr marL="0" indent="0">
              <a:lnSpc>
                <a:spcPct val="125000"/>
              </a:lnSpc>
              <a:buNone/>
            </a:pPr>
            <a:r>
              <a:rPr lang="en-US" sz="1000" i="1" dirty="0">
                <a:solidFill>
                  <a:srgbClr val="222222"/>
                </a:solidFill>
              </a:rPr>
              <a:t>No negatives — only self-prediction</a:t>
            </a:r>
            <a:endParaRPr lang="en-US" sz="1000" dirty="0"/>
          </a:p>
        </p:txBody>
      </p:sp>
      <p:sp>
        <p:nvSpPr>
          <p:cNvPr id="14" name="Shape 12"/>
          <p:cNvSpPr/>
          <p:nvPr/>
        </p:nvSpPr>
        <p:spPr>
          <a:xfrm>
            <a:off x="3154680" y="685800"/>
            <a:ext cx="2788920" cy="347472"/>
          </a:xfrm>
          <a:prstGeom prst="rect">
            <a:avLst/>
          </a:prstGeom>
          <a:solidFill>
            <a:srgbClr val="1565C0"/>
          </a:solidFill>
          <a:ln w="12700">
            <a:solidFill>
              <a:srgbClr val="1565C0"/>
            </a:solidFill>
            <a:prstDash val="solid"/>
          </a:ln>
        </p:spPr>
      </p:sp>
      <p:sp>
        <p:nvSpPr>
          <p:cNvPr id="15" name="Text 13"/>
          <p:cNvSpPr/>
          <p:nvPr/>
        </p:nvSpPr>
        <p:spPr>
          <a:xfrm>
            <a:off x="3154680" y="685800"/>
            <a:ext cx="2788920" cy="347472"/>
          </a:xfrm>
          <a:prstGeom prst="rect">
            <a:avLst/>
          </a:prstGeom>
          <a:noFill/>
          <a:ln/>
        </p:spPr>
        <p:txBody>
          <a:bodyPr wrap="square" lIns="0" tIns="0" rIns="0" bIns="0" rtlCol="0" anchor="ctr"/>
          <a:lstStyle/>
          <a:p>
            <a:pPr marL="0" indent="0" algn="ctr">
              <a:buNone/>
            </a:pPr>
            <a:r>
              <a:rPr lang="en-US" sz="1050" b="1" dirty="0">
                <a:solidFill>
                  <a:srgbClr val="FFFFFF"/>
                </a:solidFill>
              </a:rPr>
              <a:t>Barlow Twins Augmentations</a:t>
            </a:r>
            <a:endParaRPr lang="en-US" sz="1050" dirty="0"/>
          </a:p>
        </p:txBody>
      </p:sp>
      <p:sp>
        <p:nvSpPr>
          <p:cNvPr id="16" name="Shape 14"/>
          <p:cNvSpPr/>
          <p:nvPr/>
        </p:nvSpPr>
        <p:spPr>
          <a:xfrm>
            <a:off x="3154680" y="1033272"/>
            <a:ext cx="2788920" cy="2377440"/>
          </a:xfrm>
          <a:prstGeom prst="rect">
            <a:avLst/>
          </a:prstGeom>
          <a:solidFill>
            <a:srgbClr val="E3F2FD"/>
          </a:solidFill>
          <a:ln w="12700">
            <a:solidFill>
              <a:srgbClr val="1565C0"/>
            </a:solidFill>
            <a:prstDash val="solid"/>
          </a:ln>
        </p:spPr>
      </p:sp>
      <p:sp>
        <p:nvSpPr>
          <p:cNvPr id="17" name="Text 15"/>
          <p:cNvSpPr/>
          <p:nvPr/>
        </p:nvSpPr>
        <p:spPr>
          <a:xfrm>
            <a:off x="3246120" y="1097280"/>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RandomResizedCrop (0.2–1.0) — same as SimCLR</a:t>
            </a:r>
            <a:endParaRPr lang="en-US" sz="1000" dirty="0"/>
          </a:p>
        </p:txBody>
      </p:sp>
      <p:sp>
        <p:nvSpPr>
          <p:cNvPr id="18" name="Text 16"/>
          <p:cNvSpPr/>
          <p:nvPr/>
        </p:nvSpPr>
        <p:spPr>
          <a:xfrm>
            <a:off x="3246120" y="1536192"/>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RandomHorizontalFlip p=0.5</a:t>
            </a:r>
            <a:endParaRPr lang="en-US" sz="1000" dirty="0"/>
          </a:p>
        </p:txBody>
      </p:sp>
      <p:sp>
        <p:nvSpPr>
          <p:cNvPr id="19" name="Text 17"/>
          <p:cNvSpPr/>
          <p:nvPr/>
        </p:nvSpPr>
        <p:spPr>
          <a:xfrm>
            <a:off x="3246120" y="1975104"/>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ColorJitter p=0.8</a:t>
            </a:r>
            <a:endParaRPr lang="en-US" sz="1000" dirty="0"/>
          </a:p>
        </p:txBody>
      </p:sp>
      <p:sp>
        <p:nvSpPr>
          <p:cNvPr id="20" name="Text 18"/>
          <p:cNvSpPr/>
          <p:nvPr/>
        </p:nvSpPr>
        <p:spPr>
          <a:xfrm>
            <a:off x="3246120" y="2414016"/>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RandomGrayscale p=0.2</a:t>
            </a:r>
            <a:endParaRPr lang="en-US" sz="1000" dirty="0"/>
          </a:p>
        </p:txBody>
      </p:sp>
      <p:sp>
        <p:nvSpPr>
          <p:cNvPr id="21" name="Text 19"/>
          <p:cNvSpPr/>
          <p:nvPr/>
        </p:nvSpPr>
        <p:spPr>
          <a:xfrm>
            <a:off x="3246120" y="2852928"/>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GaussianBlur p=0.5 σ=[0.1, 2.0]</a:t>
            </a:r>
            <a:endParaRPr lang="en-US" sz="1000" dirty="0"/>
          </a:p>
        </p:txBody>
      </p:sp>
      <p:sp>
        <p:nvSpPr>
          <p:cNvPr id="22" name="Shape 20"/>
          <p:cNvSpPr/>
          <p:nvPr/>
        </p:nvSpPr>
        <p:spPr>
          <a:xfrm>
            <a:off x="3154680" y="3447288"/>
            <a:ext cx="2788920" cy="621792"/>
          </a:xfrm>
          <a:prstGeom prst="rect">
            <a:avLst/>
          </a:prstGeom>
          <a:solidFill>
            <a:srgbClr val="1565C0">
              <a:alpha val="20000"/>
            </a:srgbClr>
          </a:solidFill>
          <a:ln w="12700">
            <a:solidFill>
              <a:srgbClr val="1565C0"/>
            </a:solidFill>
            <a:prstDash val="solid"/>
          </a:ln>
        </p:spPr>
      </p:sp>
      <p:sp>
        <p:nvSpPr>
          <p:cNvPr id="23" name="Text 21"/>
          <p:cNvSpPr/>
          <p:nvPr/>
        </p:nvSpPr>
        <p:spPr>
          <a:xfrm>
            <a:off x="3246120" y="3447288"/>
            <a:ext cx="2606040" cy="621792"/>
          </a:xfrm>
          <a:prstGeom prst="rect">
            <a:avLst/>
          </a:prstGeom>
          <a:noFill/>
          <a:ln/>
        </p:spPr>
        <p:txBody>
          <a:bodyPr wrap="square" rtlCol="0" anchor="ctr"/>
          <a:lstStyle/>
          <a:p>
            <a:pPr marL="0" indent="0">
              <a:lnSpc>
                <a:spcPct val="125000"/>
              </a:lnSpc>
              <a:buNone/>
            </a:pPr>
            <a:r>
              <a:rPr lang="en-US" sz="1000" i="1" dirty="0">
                <a:solidFill>
                  <a:srgbClr val="222222"/>
                </a:solidFill>
              </a:rPr>
              <a:t>Two symmetric views</a:t>
            </a:r>
            <a:endParaRPr lang="en-US" sz="1000" dirty="0"/>
          </a:p>
          <a:p>
            <a:pPr marL="0" indent="0">
              <a:lnSpc>
                <a:spcPct val="125000"/>
              </a:lnSpc>
              <a:buNone/>
            </a:pPr>
            <a:r>
              <a:rPr lang="en-US" sz="1000" i="1" dirty="0">
                <a:solidFill>
                  <a:srgbClr val="222222"/>
                </a:solidFill>
              </a:rPr>
              <a:t>No negatives — loss decorrelates features</a:t>
            </a:r>
            <a:endParaRPr lang="en-US" sz="1000" dirty="0"/>
          </a:p>
        </p:txBody>
      </p:sp>
      <p:sp>
        <p:nvSpPr>
          <p:cNvPr id="24" name="Shape 22"/>
          <p:cNvSpPr/>
          <p:nvPr/>
        </p:nvSpPr>
        <p:spPr>
          <a:xfrm>
            <a:off x="6035040" y="685800"/>
            <a:ext cx="2788920" cy="347472"/>
          </a:xfrm>
          <a:prstGeom prst="rect">
            <a:avLst/>
          </a:prstGeom>
          <a:solidFill>
            <a:srgbClr val="8B5500"/>
          </a:solidFill>
          <a:ln w="12700">
            <a:solidFill>
              <a:srgbClr val="8B5500"/>
            </a:solidFill>
            <a:prstDash val="solid"/>
          </a:ln>
        </p:spPr>
      </p:sp>
      <p:sp>
        <p:nvSpPr>
          <p:cNvPr id="25" name="Text 23"/>
          <p:cNvSpPr/>
          <p:nvPr/>
        </p:nvSpPr>
        <p:spPr>
          <a:xfrm>
            <a:off x="6035040" y="685800"/>
            <a:ext cx="2788920" cy="347472"/>
          </a:xfrm>
          <a:prstGeom prst="rect">
            <a:avLst/>
          </a:prstGeom>
          <a:noFill/>
          <a:ln/>
        </p:spPr>
        <p:txBody>
          <a:bodyPr wrap="square" lIns="0" tIns="0" rIns="0" bIns="0" rtlCol="0" anchor="ctr"/>
          <a:lstStyle/>
          <a:p>
            <a:pPr marL="0" indent="0" algn="ctr">
              <a:buNone/>
            </a:pPr>
            <a:r>
              <a:rPr lang="en-US" sz="1050" b="1" dirty="0">
                <a:solidFill>
                  <a:srgbClr val="FFFFFF"/>
                </a:solidFill>
              </a:rPr>
              <a:t>DINO Multi-Crop</a:t>
            </a:r>
            <a:endParaRPr lang="en-US" sz="1050" dirty="0"/>
          </a:p>
        </p:txBody>
      </p:sp>
      <p:sp>
        <p:nvSpPr>
          <p:cNvPr id="26" name="Shape 24"/>
          <p:cNvSpPr/>
          <p:nvPr/>
        </p:nvSpPr>
        <p:spPr>
          <a:xfrm>
            <a:off x="6035040" y="1033272"/>
            <a:ext cx="2788920" cy="2377440"/>
          </a:xfrm>
          <a:prstGeom prst="rect">
            <a:avLst/>
          </a:prstGeom>
          <a:solidFill>
            <a:srgbClr val="FFF8E1"/>
          </a:solidFill>
          <a:ln w="12700">
            <a:solidFill>
              <a:srgbClr val="8B5500"/>
            </a:solidFill>
            <a:prstDash val="solid"/>
          </a:ln>
        </p:spPr>
      </p:sp>
      <p:sp>
        <p:nvSpPr>
          <p:cNvPr id="27" name="Text 25"/>
          <p:cNvSpPr/>
          <p:nvPr/>
        </p:nvSpPr>
        <p:spPr>
          <a:xfrm>
            <a:off x="6126480" y="1097280"/>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2 global crops at 224×224 (scale 0.4–1.0)</a:t>
            </a:r>
            <a:endParaRPr lang="en-US" sz="1000" dirty="0"/>
          </a:p>
        </p:txBody>
      </p:sp>
      <p:sp>
        <p:nvSpPr>
          <p:cNvPr id="28" name="Text 26"/>
          <p:cNvSpPr/>
          <p:nvPr/>
        </p:nvSpPr>
        <p:spPr>
          <a:xfrm>
            <a:off x="6126480" y="1536192"/>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6–8 local crops at 96×96 (scale 0.05–0.4)</a:t>
            </a:r>
            <a:endParaRPr lang="en-US" sz="1000" dirty="0"/>
          </a:p>
        </p:txBody>
      </p:sp>
      <p:sp>
        <p:nvSpPr>
          <p:cNvPr id="29" name="Text 27"/>
          <p:cNvSpPr/>
          <p:nvPr/>
        </p:nvSpPr>
        <p:spPr>
          <a:xfrm>
            <a:off x="6126480" y="1975104"/>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All: RandomHorizontalFlip + ColorJitter</a:t>
            </a:r>
            <a:endParaRPr lang="en-US" sz="1000" dirty="0"/>
          </a:p>
        </p:txBody>
      </p:sp>
      <p:sp>
        <p:nvSpPr>
          <p:cNvPr id="30" name="Text 28"/>
          <p:cNvSpPr/>
          <p:nvPr/>
        </p:nvSpPr>
        <p:spPr>
          <a:xfrm>
            <a:off x="6126480" y="2414016"/>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Teacher sees global only; student sees local</a:t>
            </a:r>
            <a:endParaRPr lang="en-US" sz="1000" dirty="0"/>
          </a:p>
        </p:txBody>
      </p:sp>
      <p:sp>
        <p:nvSpPr>
          <p:cNvPr id="31" name="Text 29"/>
          <p:cNvSpPr/>
          <p:nvPr/>
        </p:nvSpPr>
        <p:spPr>
          <a:xfrm>
            <a:off x="6126480" y="2852928"/>
            <a:ext cx="2606040" cy="420624"/>
          </a:xfrm>
          <a:prstGeom prst="rect">
            <a:avLst/>
          </a:prstGeom>
          <a:noFill/>
          <a:ln/>
        </p:spPr>
        <p:txBody>
          <a:bodyPr wrap="square" rtlCol="0" anchor="ctr"/>
          <a:lstStyle/>
          <a:p>
            <a:pPr marL="342900" indent="-342900">
              <a:lnSpc>
                <a:spcPct val="115000"/>
              </a:lnSpc>
              <a:buSzPct val="100000"/>
              <a:buChar char="•"/>
            </a:pPr>
            <a:r>
              <a:rPr lang="en-US" sz="1000" dirty="0">
                <a:solidFill>
                  <a:srgbClr val="222222"/>
                </a:solidFill>
              </a:rPr>
              <a:t>Centering + temperature sharpening prevent collapse</a:t>
            </a:r>
            <a:endParaRPr lang="en-US" sz="1000" dirty="0"/>
          </a:p>
        </p:txBody>
      </p:sp>
      <p:sp>
        <p:nvSpPr>
          <p:cNvPr id="32" name="Shape 30"/>
          <p:cNvSpPr/>
          <p:nvPr/>
        </p:nvSpPr>
        <p:spPr>
          <a:xfrm>
            <a:off x="6035040" y="3447288"/>
            <a:ext cx="2788920" cy="621792"/>
          </a:xfrm>
          <a:prstGeom prst="rect">
            <a:avLst/>
          </a:prstGeom>
          <a:solidFill>
            <a:srgbClr val="8B5500">
              <a:alpha val="20000"/>
            </a:srgbClr>
          </a:solidFill>
          <a:ln w="12700">
            <a:solidFill>
              <a:srgbClr val="8B5500"/>
            </a:solidFill>
            <a:prstDash val="solid"/>
          </a:ln>
        </p:spPr>
      </p:sp>
      <p:sp>
        <p:nvSpPr>
          <p:cNvPr id="33" name="Text 31"/>
          <p:cNvSpPr/>
          <p:nvPr/>
        </p:nvSpPr>
        <p:spPr>
          <a:xfrm>
            <a:off x="6126480" y="3447288"/>
            <a:ext cx="2606040" cy="621792"/>
          </a:xfrm>
          <a:prstGeom prst="rect">
            <a:avLst/>
          </a:prstGeom>
          <a:noFill/>
          <a:ln/>
        </p:spPr>
        <p:txBody>
          <a:bodyPr wrap="square" rtlCol="0" anchor="ctr"/>
          <a:lstStyle/>
          <a:p>
            <a:pPr marL="0" indent="0">
              <a:lnSpc>
                <a:spcPct val="125000"/>
              </a:lnSpc>
              <a:buNone/>
            </a:pPr>
            <a:r>
              <a:rPr lang="en-US" sz="1000" i="1" dirty="0">
                <a:solidFill>
                  <a:srgbClr val="222222"/>
                </a:solidFill>
              </a:rPr>
              <a:t>Multi-crop: local predicts global</a:t>
            </a:r>
            <a:endParaRPr lang="en-US" sz="1000" dirty="0"/>
          </a:p>
          <a:p>
            <a:pPr marL="0" indent="0">
              <a:lnSpc>
                <a:spcPct val="125000"/>
              </a:lnSpc>
              <a:buNone/>
            </a:pPr>
            <a:r>
              <a:rPr lang="en-US" sz="1000" i="1" dirty="0">
                <a:solidFill>
                  <a:srgbClr val="222222"/>
                </a:solidFill>
              </a:rPr>
              <a:t>Captures both scene &amp; texture</a:t>
            </a:r>
            <a:endParaRPr lang="en-US" sz="1000" dirty="0"/>
          </a:p>
        </p:txBody>
      </p:sp>
      <p:sp>
        <p:nvSpPr>
          <p:cNvPr id="34" name="Shape 32"/>
          <p:cNvSpPr/>
          <p:nvPr/>
        </p:nvSpPr>
        <p:spPr>
          <a:xfrm>
            <a:off x="274320" y="4178808"/>
            <a:ext cx="8503920" cy="804672"/>
          </a:xfrm>
          <a:prstGeom prst="rect">
            <a:avLst/>
          </a:prstGeom>
          <a:solidFill>
            <a:srgbClr val="0D1B2A">
              <a:alpha val="90000"/>
            </a:srgbClr>
          </a:solidFill>
          <a:ln w="12700">
            <a:solidFill>
              <a:srgbClr val="0D1B2A"/>
            </a:solidFill>
            <a:prstDash val="solid"/>
          </a:ln>
        </p:spPr>
      </p:sp>
      <p:sp>
        <p:nvSpPr>
          <p:cNvPr id="35" name="Text 33"/>
          <p:cNvSpPr/>
          <p:nvPr/>
        </p:nvSpPr>
        <p:spPr>
          <a:xfrm>
            <a:off x="457200" y="4178808"/>
            <a:ext cx="8229600" cy="804672"/>
          </a:xfrm>
          <a:prstGeom prst="rect">
            <a:avLst/>
          </a:prstGeom>
          <a:noFill/>
          <a:ln/>
        </p:spPr>
        <p:txBody>
          <a:bodyPr wrap="square" rtlCol="0" anchor="ctr"/>
          <a:lstStyle/>
          <a:p>
            <a:pPr marL="0" indent="0">
              <a:lnSpc>
                <a:spcPct val="130000"/>
              </a:lnSpc>
              <a:buNone/>
            </a:pPr>
            <a:r>
              <a:rPr lang="en-US" sz="1150" b="1" dirty="0">
                <a:solidFill>
                  <a:srgbClr val="E9A824"/>
                </a:solidFill>
              </a:rPr>
              <a:t>Key insight: </a:t>
            </a:r>
            <a:r>
              <a:rPr lang="en-US" sz="1150" dirty="0">
                <a:solidFill>
                  <a:srgbClr val="FFFFFF"/>
                </a:solidFill>
              </a:rPr>
              <a:t>All three methods are batch-size independent — none need the large batches SimCLR requires. DINO's multi-crop is the unique differentiator: it explicitly teaches the model that a local hazy patch and the full hazy scene are the same object.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w="12700">
            <a:solidFill>
              <a:srgbClr val="0D1B2A"/>
            </a:solidFill>
            <a:prstDash val="solid"/>
          </a:ln>
        </p:spPr>
      </p:sp>
      <p:sp>
        <p:nvSpPr>
          <p:cNvPr id="3" name="Text 1"/>
          <p:cNvSpPr/>
          <p:nvPr/>
        </p:nvSpPr>
        <p:spPr>
          <a:xfrm>
            <a:off x="320040" y="0"/>
            <a:ext cx="8503920" cy="594360"/>
          </a:xfrm>
          <a:prstGeom prst="rect">
            <a:avLst/>
          </a:prstGeom>
          <a:noFill/>
          <a:ln/>
        </p:spPr>
        <p:txBody>
          <a:bodyPr wrap="square" lIns="0" tIns="0" rIns="0" bIns="0" rtlCol="0" anchor="ctr"/>
          <a:lstStyle/>
          <a:p>
            <a:pPr marL="0" indent="0">
              <a:buNone/>
            </a:pPr>
            <a:r>
              <a:rPr lang="en-US" sz="1900" b="1" dirty="0">
                <a:solidFill>
                  <a:srgbClr val="FFFFFF"/>
                </a:solidFill>
              </a:rPr>
              <a:t>Method Comparison &amp; Justification for PM25Vision</a:t>
            </a:r>
            <a:endParaRPr lang="en-US" sz="1900" dirty="0"/>
          </a:p>
        </p:txBody>
      </p:sp>
      <p:sp>
        <p:nvSpPr>
          <p:cNvPr id="4" name="Shape 2"/>
          <p:cNvSpPr/>
          <p:nvPr/>
        </p:nvSpPr>
        <p:spPr>
          <a:xfrm>
            <a:off x="228600" y="685800"/>
            <a:ext cx="2286000" cy="384048"/>
          </a:xfrm>
          <a:prstGeom prst="rect">
            <a:avLst/>
          </a:prstGeom>
          <a:solidFill>
            <a:srgbClr val="2E4057"/>
          </a:solidFill>
          <a:ln w="12700">
            <a:solidFill>
              <a:srgbClr val="2E4057"/>
            </a:solidFill>
            <a:prstDash val="solid"/>
          </a:ln>
        </p:spPr>
      </p:sp>
      <p:sp>
        <p:nvSpPr>
          <p:cNvPr id="5" name="Text 3"/>
          <p:cNvSpPr/>
          <p:nvPr/>
        </p:nvSpPr>
        <p:spPr>
          <a:xfrm>
            <a:off x="228600" y="685800"/>
            <a:ext cx="2286000" cy="384048"/>
          </a:xfrm>
          <a:prstGeom prst="rect">
            <a:avLst/>
          </a:prstGeom>
          <a:noFill/>
          <a:ln/>
        </p:spPr>
        <p:txBody>
          <a:bodyPr wrap="square" lIns="0" tIns="0" rIns="0" bIns="0" rtlCol="0" anchor="ctr"/>
          <a:lstStyle/>
          <a:p>
            <a:pPr marL="0" indent="0" algn="ctr">
              <a:buNone/>
            </a:pPr>
            <a:r>
              <a:rPr lang="en-US" sz="1200" b="1" dirty="0">
                <a:solidFill>
                  <a:srgbClr val="FFFFFF"/>
                </a:solidFill>
              </a:rPr>
              <a:t>Property</a:t>
            </a:r>
            <a:endParaRPr lang="en-US" sz="1200" dirty="0"/>
          </a:p>
        </p:txBody>
      </p:sp>
      <p:sp>
        <p:nvSpPr>
          <p:cNvPr id="6" name="Shape 4"/>
          <p:cNvSpPr/>
          <p:nvPr/>
        </p:nvSpPr>
        <p:spPr>
          <a:xfrm>
            <a:off x="2514600" y="685800"/>
            <a:ext cx="2103120" cy="384048"/>
          </a:xfrm>
          <a:prstGeom prst="rect">
            <a:avLst/>
          </a:prstGeom>
          <a:solidFill>
            <a:srgbClr val="0A9396"/>
          </a:solidFill>
          <a:ln w="12700">
            <a:solidFill>
              <a:srgbClr val="0A9396"/>
            </a:solidFill>
            <a:prstDash val="solid"/>
          </a:ln>
        </p:spPr>
      </p:sp>
      <p:sp>
        <p:nvSpPr>
          <p:cNvPr id="7" name="Text 5"/>
          <p:cNvSpPr/>
          <p:nvPr/>
        </p:nvSpPr>
        <p:spPr>
          <a:xfrm>
            <a:off x="2514600" y="685800"/>
            <a:ext cx="2103120" cy="384048"/>
          </a:xfrm>
          <a:prstGeom prst="rect">
            <a:avLst/>
          </a:prstGeom>
          <a:noFill/>
          <a:ln/>
        </p:spPr>
        <p:txBody>
          <a:bodyPr wrap="square" lIns="0" tIns="0" rIns="0" bIns="0" rtlCol="0" anchor="ctr"/>
          <a:lstStyle/>
          <a:p>
            <a:pPr marL="0" indent="0" algn="ctr">
              <a:buNone/>
            </a:pPr>
            <a:r>
              <a:rPr lang="en-US" sz="1200" b="1" dirty="0">
                <a:solidFill>
                  <a:srgbClr val="FFFFFF"/>
                </a:solidFill>
              </a:rPr>
              <a:t>BYOL</a:t>
            </a:r>
            <a:endParaRPr lang="en-US" sz="1200" dirty="0"/>
          </a:p>
        </p:txBody>
      </p:sp>
      <p:sp>
        <p:nvSpPr>
          <p:cNvPr id="8" name="Shape 6"/>
          <p:cNvSpPr/>
          <p:nvPr/>
        </p:nvSpPr>
        <p:spPr>
          <a:xfrm>
            <a:off x="4617720" y="685800"/>
            <a:ext cx="2103120" cy="384048"/>
          </a:xfrm>
          <a:prstGeom prst="rect">
            <a:avLst/>
          </a:prstGeom>
          <a:solidFill>
            <a:srgbClr val="1565C0"/>
          </a:solidFill>
          <a:ln w="12700">
            <a:solidFill>
              <a:srgbClr val="1565C0"/>
            </a:solidFill>
            <a:prstDash val="solid"/>
          </a:ln>
        </p:spPr>
      </p:sp>
      <p:sp>
        <p:nvSpPr>
          <p:cNvPr id="9" name="Text 7"/>
          <p:cNvSpPr/>
          <p:nvPr/>
        </p:nvSpPr>
        <p:spPr>
          <a:xfrm>
            <a:off x="4617720" y="685800"/>
            <a:ext cx="2103120" cy="384048"/>
          </a:xfrm>
          <a:prstGeom prst="rect">
            <a:avLst/>
          </a:prstGeom>
          <a:noFill/>
          <a:ln/>
        </p:spPr>
        <p:txBody>
          <a:bodyPr wrap="square" lIns="0" tIns="0" rIns="0" bIns="0" rtlCol="0" anchor="ctr"/>
          <a:lstStyle/>
          <a:p>
            <a:pPr marL="0" indent="0" algn="ctr">
              <a:buNone/>
            </a:pPr>
            <a:r>
              <a:rPr lang="en-US" sz="1200" b="1" dirty="0">
                <a:solidFill>
                  <a:srgbClr val="FFFFFF"/>
                </a:solidFill>
              </a:rPr>
              <a:t>Barlow Twins</a:t>
            </a:r>
            <a:endParaRPr lang="en-US" sz="1200" dirty="0"/>
          </a:p>
        </p:txBody>
      </p:sp>
      <p:sp>
        <p:nvSpPr>
          <p:cNvPr id="10" name="Shape 8"/>
          <p:cNvSpPr/>
          <p:nvPr/>
        </p:nvSpPr>
        <p:spPr>
          <a:xfrm>
            <a:off x="6720840" y="685800"/>
            <a:ext cx="2103120" cy="384048"/>
          </a:xfrm>
          <a:prstGeom prst="rect">
            <a:avLst/>
          </a:prstGeom>
          <a:solidFill>
            <a:srgbClr val="8B5500"/>
          </a:solidFill>
          <a:ln w="12700">
            <a:solidFill>
              <a:srgbClr val="8B5500"/>
            </a:solidFill>
            <a:prstDash val="solid"/>
          </a:ln>
        </p:spPr>
      </p:sp>
      <p:sp>
        <p:nvSpPr>
          <p:cNvPr id="11" name="Text 9"/>
          <p:cNvSpPr/>
          <p:nvPr/>
        </p:nvSpPr>
        <p:spPr>
          <a:xfrm>
            <a:off x="6720840" y="685800"/>
            <a:ext cx="2103120" cy="384048"/>
          </a:xfrm>
          <a:prstGeom prst="rect">
            <a:avLst/>
          </a:prstGeom>
          <a:noFill/>
          <a:ln/>
        </p:spPr>
        <p:txBody>
          <a:bodyPr wrap="square" lIns="0" tIns="0" rIns="0" bIns="0" rtlCol="0" anchor="ctr"/>
          <a:lstStyle/>
          <a:p>
            <a:pPr marL="0" indent="0" algn="ctr">
              <a:buNone/>
            </a:pPr>
            <a:r>
              <a:rPr lang="en-US" sz="1200" b="1" dirty="0">
                <a:solidFill>
                  <a:srgbClr val="FFFFFF"/>
                </a:solidFill>
              </a:rPr>
              <a:t>DINO</a:t>
            </a:r>
            <a:endParaRPr lang="en-US" sz="1200" dirty="0"/>
          </a:p>
        </p:txBody>
      </p:sp>
      <p:sp>
        <p:nvSpPr>
          <p:cNvPr id="12" name="Shape 10"/>
          <p:cNvSpPr/>
          <p:nvPr/>
        </p:nvSpPr>
        <p:spPr>
          <a:xfrm>
            <a:off x="228600" y="1069848"/>
            <a:ext cx="2286000" cy="420624"/>
          </a:xfrm>
          <a:prstGeom prst="rect">
            <a:avLst/>
          </a:prstGeom>
          <a:solidFill>
            <a:srgbClr val="FAFAFA"/>
          </a:solidFill>
          <a:ln w="6350">
            <a:solidFill>
              <a:srgbClr val="CCCCCC"/>
            </a:solidFill>
            <a:prstDash val="solid"/>
          </a:ln>
        </p:spPr>
      </p:sp>
      <p:sp>
        <p:nvSpPr>
          <p:cNvPr id="13" name="Text 11"/>
          <p:cNvSpPr/>
          <p:nvPr/>
        </p:nvSpPr>
        <p:spPr>
          <a:xfrm>
            <a:off x="301752" y="1069848"/>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Requires negatives?</a:t>
            </a:r>
            <a:endParaRPr lang="en-US" sz="1100" dirty="0"/>
          </a:p>
        </p:txBody>
      </p:sp>
      <p:sp>
        <p:nvSpPr>
          <p:cNvPr id="14" name="Shape 12"/>
          <p:cNvSpPr/>
          <p:nvPr/>
        </p:nvSpPr>
        <p:spPr>
          <a:xfrm>
            <a:off x="2514600" y="1069848"/>
            <a:ext cx="2103120" cy="420624"/>
          </a:xfrm>
          <a:prstGeom prst="rect">
            <a:avLst/>
          </a:prstGeom>
          <a:solidFill>
            <a:srgbClr val="FAFAFA"/>
          </a:solidFill>
          <a:ln w="6350">
            <a:solidFill>
              <a:srgbClr val="CCCCCC"/>
            </a:solidFill>
            <a:prstDash val="solid"/>
          </a:ln>
        </p:spPr>
      </p:sp>
      <p:sp>
        <p:nvSpPr>
          <p:cNvPr id="15" name="Text 13"/>
          <p:cNvSpPr/>
          <p:nvPr/>
        </p:nvSpPr>
        <p:spPr>
          <a:xfrm>
            <a:off x="2587752" y="106984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a:t>
            </a:r>
            <a:endParaRPr lang="en-US" sz="1000" dirty="0"/>
          </a:p>
        </p:txBody>
      </p:sp>
      <p:sp>
        <p:nvSpPr>
          <p:cNvPr id="16" name="Shape 14"/>
          <p:cNvSpPr/>
          <p:nvPr/>
        </p:nvSpPr>
        <p:spPr>
          <a:xfrm>
            <a:off x="4617720" y="1069848"/>
            <a:ext cx="2103120" cy="420624"/>
          </a:xfrm>
          <a:prstGeom prst="rect">
            <a:avLst/>
          </a:prstGeom>
          <a:solidFill>
            <a:srgbClr val="FAFAFA"/>
          </a:solidFill>
          <a:ln w="6350">
            <a:solidFill>
              <a:srgbClr val="CCCCCC"/>
            </a:solidFill>
            <a:prstDash val="solid"/>
          </a:ln>
        </p:spPr>
      </p:sp>
      <p:sp>
        <p:nvSpPr>
          <p:cNvPr id="17" name="Text 15"/>
          <p:cNvSpPr/>
          <p:nvPr/>
        </p:nvSpPr>
        <p:spPr>
          <a:xfrm>
            <a:off x="4690872" y="106984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a:t>
            </a:r>
            <a:endParaRPr lang="en-US" sz="1000" dirty="0"/>
          </a:p>
        </p:txBody>
      </p:sp>
      <p:sp>
        <p:nvSpPr>
          <p:cNvPr id="18" name="Shape 16"/>
          <p:cNvSpPr/>
          <p:nvPr/>
        </p:nvSpPr>
        <p:spPr>
          <a:xfrm>
            <a:off x="6720840" y="1069848"/>
            <a:ext cx="2103120" cy="420624"/>
          </a:xfrm>
          <a:prstGeom prst="rect">
            <a:avLst/>
          </a:prstGeom>
          <a:solidFill>
            <a:srgbClr val="FAFAFA"/>
          </a:solidFill>
          <a:ln w="6350">
            <a:solidFill>
              <a:srgbClr val="CCCCCC"/>
            </a:solidFill>
            <a:prstDash val="solid"/>
          </a:ln>
        </p:spPr>
      </p:sp>
      <p:sp>
        <p:nvSpPr>
          <p:cNvPr id="19" name="Text 17"/>
          <p:cNvSpPr/>
          <p:nvPr/>
        </p:nvSpPr>
        <p:spPr>
          <a:xfrm>
            <a:off x="6793992" y="106984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a:t>
            </a:r>
            <a:endParaRPr lang="en-US" sz="1000" dirty="0"/>
          </a:p>
        </p:txBody>
      </p:sp>
      <p:sp>
        <p:nvSpPr>
          <p:cNvPr id="20" name="Shape 18"/>
          <p:cNvSpPr/>
          <p:nvPr/>
        </p:nvSpPr>
        <p:spPr>
          <a:xfrm>
            <a:off x="228600" y="1508760"/>
            <a:ext cx="2286000" cy="420624"/>
          </a:xfrm>
          <a:prstGeom prst="rect">
            <a:avLst/>
          </a:prstGeom>
          <a:solidFill>
            <a:srgbClr val="F0F0F0"/>
          </a:solidFill>
          <a:ln w="6350">
            <a:solidFill>
              <a:srgbClr val="CCCCCC"/>
            </a:solidFill>
            <a:prstDash val="solid"/>
          </a:ln>
        </p:spPr>
      </p:sp>
      <p:sp>
        <p:nvSpPr>
          <p:cNvPr id="21" name="Text 19"/>
          <p:cNvSpPr/>
          <p:nvPr/>
        </p:nvSpPr>
        <p:spPr>
          <a:xfrm>
            <a:off x="301752" y="1508760"/>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Needs large batch?</a:t>
            </a:r>
            <a:endParaRPr lang="en-US" sz="1100" dirty="0"/>
          </a:p>
        </p:txBody>
      </p:sp>
      <p:sp>
        <p:nvSpPr>
          <p:cNvPr id="22" name="Shape 20"/>
          <p:cNvSpPr/>
          <p:nvPr/>
        </p:nvSpPr>
        <p:spPr>
          <a:xfrm>
            <a:off x="2514600" y="1508760"/>
            <a:ext cx="2103120" cy="420624"/>
          </a:xfrm>
          <a:prstGeom prst="rect">
            <a:avLst/>
          </a:prstGeom>
          <a:solidFill>
            <a:srgbClr val="F0F0F0"/>
          </a:solidFill>
          <a:ln w="6350">
            <a:solidFill>
              <a:srgbClr val="CCCCCC"/>
            </a:solidFill>
            <a:prstDash val="solid"/>
          </a:ln>
        </p:spPr>
      </p:sp>
      <p:sp>
        <p:nvSpPr>
          <p:cNvPr id="23" name="Text 21"/>
          <p:cNvSpPr/>
          <p:nvPr/>
        </p:nvSpPr>
        <p:spPr>
          <a:xfrm>
            <a:off x="2587752" y="150876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 (batch 32)</a:t>
            </a:r>
            <a:endParaRPr lang="en-US" sz="1000" dirty="0"/>
          </a:p>
        </p:txBody>
      </p:sp>
      <p:sp>
        <p:nvSpPr>
          <p:cNvPr id="24" name="Shape 22"/>
          <p:cNvSpPr/>
          <p:nvPr/>
        </p:nvSpPr>
        <p:spPr>
          <a:xfrm>
            <a:off x="4617720" y="1508760"/>
            <a:ext cx="2103120" cy="420624"/>
          </a:xfrm>
          <a:prstGeom prst="rect">
            <a:avLst/>
          </a:prstGeom>
          <a:solidFill>
            <a:srgbClr val="F0F0F0"/>
          </a:solidFill>
          <a:ln w="6350">
            <a:solidFill>
              <a:srgbClr val="CCCCCC"/>
            </a:solidFill>
            <a:prstDash val="solid"/>
          </a:ln>
        </p:spPr>
      </p:sp>
      <p:sp>
        <p:nvSpPr>
          <p:cNvPr id="25" name="Text 23"/>
          <p:cNvSpPr/>
          <p:nvPr/>
        </p:nvSpPr>
        <p:spPr>
          <a:xfrm>
            <a:off x="4690872" y="150876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 (batch 32)</a:t>
            </a:r>
            <a:endParaRPr lang="en-US" sz="1000" dirty="0"/>
          </a:p>
        </p:txBody>
      </p:sp>
      <p:sp>
        <p:nvSpPr>
          <p:cNvPr id="26" name="Shape 24"/>
          <p:cNvSpPr/>
          <p:nvPr/>
        </p:nvSpPr>
        <p:spPr>
          <a:xfrm>
            <a:off x="6720840" y="1508760"/>
            <a:ext cx="2103120" cy="420624"/>
          </a:xfrm>
          <a:prstGeom prst="rect">
            <a:avLst/>
          </a:prstGeom>
          <a:solidFill>
            <a:srgbClr val="F0F0F0"/>
          </a:solidFill>
          <a:ln w="6350">
            <a:solidFill>
              <a:srgbClr val="CCCCCC"/>
            </a:solidFill>
            <a:prstDash val="solid"/>
          </a:ln>
        </p:spPr>
      </p:sp>
      <p:sp>
        <p:nvSpPr>
          <p:cNvPr id="27" name="Text 25"/>
          <p:cNvSpPr/>
          <p:nvPr/>
        </p:nvSpPr>
        <p:spPr>
          <a:xfrm>
            <a:off x="6793992" y="150876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No (batch 32)</a:t>
            </a:r>
            <a:endParaRPr lang="en-US" sz="1000" dirty="0"/>
          </a:p>
        </p:txBody>
      </p:sp>
      <p:sp>
        <p:nvSpPr>
          <p:cNvPr id="28" name="Shape 26"/>
          <p:cNvSpPr/>
          <p:nvPr/>
        </p:nvSpPr>
        <p:spPr>
          <a:xfrm>
            <a:off x="228600" y="1947672"/>
            <a:ext cx="2286000" cy="420624"/>
          </a:xfrm>
          <a:prstGeom prst="rect">
            <a:avLst/>
          </a:prstGeom>
          <a:solidFill>
            <a:srgbClr val="FAFAFA"/>
          </a:solidFill>
          <a:ln w="6350">
            <a:solidFill>
              <a:srgbClr val="CCCCCC"/>
            </a:solidFill>
            <a:prstDash val="solid"/>
          </a:ln>
        </p:spPr>
      </p:sp>
      <p:sp>
        <p:nvSpPr>
          <p:cNvPr id="29" name="Text 27"/>
          <p:cNvSpPr/>
          <p:nvPr/>
        </p:nvSpPr>
        <p:spPr>
          <a:xfrm>
            <a:off x="301752" y="1947672"/>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Good for imbalanced data?</a:t>
            </a:r>
            <a:endParaRPr lang="en-US" sz="1100" dirty="0"/>
          </a:p>
        </p:txBody>
      </p:sp>
      <p:sp>
        <p:nvSpPr>
          <p:cNvPr id="30" name="Shape 28"/>
          <p:cNvSpPr/>
          <p:nvPr/>
        </p:nvSpPr>
        <p:spPr>
          <a:xfrm>
            <a:off x="2514600" y="1947672"/>
            <a:ext cx="2103120" cy="420624"/>
          </a:xfrm>
          <a:prstGeom prst="rect">
            <a:avLst/>
          </a:prstGeom>
          <a:solidFill>
            <a:srgbClr val="FAFAFA"/>
          </a:solidFill>
          <a:ln w="6350">
            <a:solidFill>
              <a:srgbClr val="CCCCCC"/>
            </a:solidFill>
            <a:prstDash val="solid"/>
          </a:ln>
        </p:spPr>
      </p:sp>
      <p:sp>
        <p:nvSpPr>
          <p:cNvPr id="31" name="Text 29"/>
          <p:cNvSpPr/>
          <p:nvPr/>
        </p:nvSpPr>
        <p:spPr>
          <a:xfrm>
            <a:off x="2587752" y="1947672"/>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Yes ✓</a:t>
            </a:r>
            <a:endParaRPr lang="en-US" sz="1000" dirty="0"/>
          </a:p>
        </p:txBody>
      </p:sp>
      <p:sp>
        <p:nvSpPr>
          <p:cNvPr id="32" name="Shape 30"/>
          <p:cNvSpPr/>
          <p:nvPr/>
        </p:nvSpPr>
        <p:spPr>
          <a:xfrm>
            <a:off x="4617720" y="1947672"/>
            <a:ext cx="2103120" cy="420624"/>
          </a:xfrm>
          <a:prstGeom prst="rect">
            <a:avLst/>
          </a:prstGeom>
          <a:solidFill>
            <a:srgbClr val="FAFAFA"/>
          </a:solidFill>
          <a:ln w="6350">
            <a:solidFill>
              <a:srgbClr val="CCCCCC"/>
            </a:solidFill>
            <a:prstDash val="solid"/>
          </a:ln>
        </p:spPr>
      </p:sp>
      <p:sp>
        <p:nvSpPr>
          <p:cNvPr id="33" name="Text 31"/>
          <p:cNvSpPr/>
          <p:nvPr/>
        </p:nvSpPr>
        <p:spPr>
          <a:xfrm>
            <a:off x="4690872" y="1947672"/>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Yes ✓</a:t>
            </a:r>
            <a:endParaRPr lang="en-US" sz="1000" dirty="0"/>
          </a:p>
        </p:txBody>
      </p:sp>
      <p:sp>
        <p:nvSpPr>
          <p:cNvPr id="34" name="Shape 32"/>
          <p:cNvSpPr/>
          <p:nvPr/>
        </p:nvSpPr>
        <p:spPr>
          <a:xfrm>
            <a:off x="6720840" y="1947672"/>
            <a:ext cx="2103120" cy="420624"/>
          </a:xfrm>
          <a:prstGeom prst="rect">
            <a:avLst/>
          </a:prstGeom>
          <a:solidFill>
            <a:srgbClr val="FAFAFA"/>
          </a:solidFill>
          <a:ln w="6350">
            <a:solidFill>
              <a:srgbClr val="CCCCCC"/>
            </a:solidFill>
            <a:prstDash val="solid"/>
          </a:ln>
        </p:spPr>
      </p:sp>
      <p:sp>
        <p:nvSpPr>
          <p:cNvPr id="35" name="Text 33"/>
          <p:cNvSpPr/>
          <p:nvPr/>
        </p:nvSpPr>
        <p:spPr>
          <a:xfrm>
            <a:off x="6793992" y="1947672"/>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Yes ✓</a:t>
            </a:r>
            <a:endParaRPr lang="en-US" sz="1000" dirty="0"/>
          </a:p>
        </p:txBody>
      </p:sp>
      <p:sp>
        <p:nvSpPr>
          <p:cNvPr id="36" name="Shape 34"/>
          <p:cNvSpPr/>
          <p:nvPr/>
        </p:nvSpPr>
        <p:spPr>
          <a:xfrm>
            <a:off x="228600" y="2386584"/>
            <a:ext cx="2286000" cy="420624"/>
          </a:xfrm>
          <a:prstGeom prst="rect">
            <a:avLst/>
          </a:prstGeom>
          <a:solidFill>
            <a:srgbClr val="F0F0F0"/>
          </a:solidFill>
          <a:ln w="6350">
            <a:solidFill>
              <a:srgbClr val="CCCCCC"/>
            </a:solidFill>
            <a:prstDash val="solid"/>
          </a:ln>
        </p:spPr>
      </p:sp>
      <p:sp>
        <p:nvSpPr>
          <p:cNvPr id="37" name="Text 35"/>
          <p:cNvSpPr/>
          <p:nvPr/>
        </p:nvSpPr>
        <p:spPr>
          <a:xfrm>
            <a:off x="301752" y="2386584"/>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Augmentation sensitivity</a:t>
            </a:r>
            <a:endParaRPr lang="en-US" sz="1100" dirty="0"/>
          </a:p>
        </p:txBody>
      </p:sp>
      <p:sp>
        <p:nvSpPr>
          <p:cNvPr id="38" name="Shape 36"/>
          <p:cNvSpPr/>
          <p:nvPr/>
        </p:nvSpPr>
        <p:spPr>
          <a:xfrm>
            <a:off x="2514600" y="2386584"/>
            <a:ext cx="2103120" cy="420624"/>
          </a:xfrm>
          <a:prstGeom prst="rect">
            <a:avLst/>
          </a:prstGeom>
          <a:solidFill>
            <a:srgbClr val="F0F0F0"/>
          </a:solidFill>
          <a:ln w="6350">
            <a:solidFill>
              <a:srgbClr val="CCCCCC"/>
            </a:solidFill>
            <a:prstDash val="solid"/>
          </a:ln>
        </p:spPr>
      </p:sp>
      <p:sp>
        <p:nvSpPr>
          <p:cNvPr id="39" name="Text 37"/>
          <p:cNvSpPr/>
          <p:nvPr/>
        </p:nvSpPr>
        <p:spPr>
          <a:xfrm>
            <a:off x="2587752" y="2386584"/>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Medium</a:t>
            </a:r>
            <a:endParaRPr lang="en-US" sz="1000" dirty="0"/>
          </a:p>
        </p:txBody>
      </p:sp>
      <p:sp>
        <p:nvSpPr>
          <p:cNvPr id="40" name="Shape 38"/>
          <p:cNvSpPr/>
          <p:nvPr/>
        </p:nvSpPr>
        <p:spPr>
          <a:xfrm>
            <a:off x="4617720" y="2386584"/>
            <a:ext cx="2103120" cy="420624"/>
          </a:xfrm>
          <a:prstGeom prst="rect">
            <a:avLst/>
          </a:prstGeom>
          <a:solidFill>
            <a:srgbClr val="F0F0F0"/>
          </a:solidFill>
          <a:ln w="6350">
            <a:solidFill>
              <a:srgbClr val="CCCCCC"/>
            </a:solidFill>
            <a:prstDash val="solid"/>
          </a:ln>
        </p:spPr>
      </p:sp>
      <p:sp>
        <p:nvSpPr>
          <p:cNvPr id="41" name="Text 39"/>
          <p:cNvSpPr/>
          <p:nvPr/>
        </p:nvSpPr>
        <p:spPr>
          <a:xfrm>
            <a:off x="4690872" y="2386584"/>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Medium</a:t>
            </a:r>
            <a:endParaRPr lang="en-US" sz="1000" dirty="0"/>
          </a:p>
        </p:txBody>
      </p:sp>
      <p:sp>
        <p:nvSpPr>
          <p:cNvPr id="42" name="Shape 40"/>
          <p:cNvSpPr/>
          <p:nvPr/>
        </p:nvSpPr>
        <p:spPr>
          <a:xfrm>
            <a:off x="6720840" y="2386584"/>
            <a:ext cx="2103120" cy="420624"/>
          </a:xfrm>
          <a:prstGeom prst="rect">
            <a:avLst/>
          </a:prstGeom>
          <a:solidFill>
            <a:srgbClr val="F0F0F0"/>
          </a:solidFill>
          <a:ln w="6350">
            <a:solidFill>
              <a:srgbClr val="CCCCCC"/>
            </a:solidFill>
            <a:prstDash val="solid"/>
          </a:ln>
        </p:spPr>
      </p:sp>
      <p:sp>
        <p:nvSpPr>
          <p:cNvPr id="43" name="Text 41"/>
          <p:cNvSpPr/>
          <p:nvPr/>
        </p:nvSpPr>
        <p:spPr>
          <a:xfrm>
            <a:off x="6793992" y="2386584"/>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Low</a:t>
            </a:r>
            <a:endParaRPr lang="en-US" sz="1000" dirty="0"/>
          </a:p>
        </p:txBody>
      </p:sp>
      <p:sp>
        <p:nvSpPr>
          <p:cNvPr id="44" name="Shape 42"/>
          <p:cNvSpPr/>
          <p:nvPr/>
        </p:nvSpPr>
        <p:spPr>
          <a:xfrm>
            <a:off x="228600" y="2825496"/>
            <a:ext cx="2286000" cy="420624"/>
          </a:xfrm>
          <a:prstGeom prst="rect">
            <a:avLst/>
          </a:prstGeom>
          <a:solidFill>
            <a:srgbClr val="FAFAFA"/>
          </a:solidFill>
          <a:ln w="6350">
            <a:solidFill>
              <a:srgbClr val="CCCCCC"/>
            </a:solidFill>
            <a:prstDash val="solid"/>
          </a:ln>
        </p:spPr>
      </p:sp>
      <p:sp>
        <p:nvSpPr>
          <p:cNvPr id="45" name="Text 43"/>
          <p:cNvSpPr/>
          <p:nvPr/>
        </p:nvSpPr>
        <p:spPr>
          <a:xfrm>
            <a:off x="301752" y="2825496"/>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GPU memory (batch 32)</a:t>
            </a:r>
            <a:endParaRPr lang="en-US" sz="1100" dirty="0"/>
          </a:p>
        </p:txBody>
      </p:sp>
      <p:sp>
        <p:nvSpPr>
          <p:cNvPr id="46" name="Shape 44"/>
          <p:cNvSpPr/>
          <p:nvPr/>
        </p:nvSpPr>
        <p:spPr>
          <a:xfrm>
            <a:off x="2514600" y="2825496"/>
            <a:ext cx="2103120" cy="420624"/>
          </a:xfrm>
          <a:prstGeom prst="rect">
            <a:avLst/>
          </a:prstGeom>
          <a:solidFill>
            <a:srgbClr val="FAFAFA"/>
          </a:solidFill>
          <a:ln w="6350">
            <a:solidFill>
              <a:srgbClr val="CCCCCC"/>
            </a:solidFill>
            <a:prstDash val="solid"/>
          </a:ln>
        </p:spPr>
      </p:sp>
      <p:sp>
        <p:nvSpPr>
          <p:cNvPr id="47" name="Text 45"/>
          <p:cNvSpPr/>
          <p:nvPr/>
        </p:nvSpPr>
        <p:spPr>
          <a:xfrm>
            <a:off x="2587752" y="2825496"/>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~4 GB</a:t>
            </a:r>
            <a:endParaRPr lang="en-US" sz="1000" dirty="0"/>
          </a:p>
        </p:txBody>
      </p:sp>
      <p:sp>
        <p:nvSpPr>
          <p:cNvPr id="48" name="Shape 46"/>
          <p:cNvSpPr/>
          <p:nvPr/>
        </p:nvSpPr>
        <p:spPr>
          <a:xfrm>
            <a:off x="4617720" y="2825496"/>
            <a:ext cx="2103120" cy="420624"/>
          </a:xfrm>
          <a:prstGeom prst="rect">
            <a:avLst/>
          </a:prstGeom>
          <a:solidFill>
            <a:srgbClr val="FAFAFA"/>
          </a:solidFill>
          <a:ln w="6350">
            <a:solidFill>
              <a:srgbClr val="CCCCCC"/>
            </a:solidFill>
            <a:prstDash val="solid"/>
          </a:ln>
        </p:spPr>
      </p:sp>
      <p:sp>
        <p:nvSpPr>
          <p:cNvPr id="49" name="Text 47"/>
          <p:cNvSpPr/>
          <p:nvPr/>
        </p:nvSpPr>
        <p:spPr>
          <a:xfrm>
            <a:off x="4690872" y="2825496"/>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~3 GB</a:t>
            </a:r>
            <a:endParaRPr lang="en-US" sz="1000" dirty="0"/>
          </a:p>
        </p:txBody>
      </p:sp>
      <p:sp>
        <p:nvSpPr>
          <p:cNvPr id="50" name="Shape 48"/>
          <p:cNvSpPr/>
          <p:nvPr/>
        </p:nvSpPr>
        <p:spPr>
          <a:xfrm>
            <a:off x="6720840" y="2825496"/>
            <a:ext cx="2103120" cy="420624"/>
          </a:xfrm>
          <a:prstGeom prst="rect">
            <a:avLst/>
          </a:prstGeom>
          <a:solidFill>
            <a:srgbClr val="FAFAFA"/>
          </a:solidFill>
          <a:ln w="6350">
            <a:solidFill>
              <a:srgbClr val="CCCCCC"/>
            </a:solidFill>
            <a:prstDash val="solid"/>
          </a:ln>
        </p:spPr>
      </p:sp>
      <p:sp>
        <p:nvSpPr>
          <p:cNvPr id="51" name="Text 49"/>
          <p:cNvSpPr/>
          <p:nvPr/>
        </p:nvSpPr>
        <p:spPr>
          <a:xfrm>
            <a:off x="6793992" y="2825496"/>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~3 GB</a:t>
            </a:r>
            <a:endParaRPr lang="en-US" sz="1000" dirty="0"/>
          </a:p>
        </p:txBody>
      </p:sp>
      <p:sp>
        <p:nvSpPr>
          <p:cNvPr id="52" name="Shape 50"/>
          <p:cNvSpPr/>
          <p:nvPr/>
        </p:nvSpPr>
        <p:spPr>
          <a:xfrm>
            <a:off x="228600" y="3264408"/>
            <a:ext cx="2286000" cy="420624"/>
          </a:xfrm>
          <a:prstGeom prst="rect">
            <a:avLst/>
          </a:prstGeom>
          <a:solidFill>
            <a:srgbClr val="F0F0F0"/>
          </a:solidFill>
          <a:ln w="6350">
            <a:solidFill>
              <a:srgbClr val="CCCCCC"/>
            </a:solidFill>
            <a:prstDash val="solid"/>
          </a:ln>
        </p:spPr>
      </p:sp>
      <p:sp>
        <p:nvSpPr>
          <p:cNvPr id="53" name="Text 51"/>
          <p:cNvSpPr/>
          <p:nvPr/>
        </p:nvSpPr>
        <p:spPr>
          <a:xfrm>
            <a:off x="301752" y="3264408"/>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Learns spatial structure?</a:t>
            </a:r>
            <a:endParaRPr lang="en-US" sz="1100" dirty="0"/>
          </a:p>
        </p:txBody>
      </p:sp>
      <p:sp>
        <p:nvSpPr>
          <p:cNvPr id="54" name="Shape 52"/>
          <p:cNvSpPr/>
          <p:nvPr/>
        </p:nvSpPr>
        <p:spPr>
          <a:xfrm>
            <a:off x="2514600" y="3264408"/>
            <a:ext cx="2103120" cy="420624"/>
          </a:xfrm>
          <a:prstGeom prst="rect">
            <a:avLst/>
          </a:prstGeom>
          <a:solidFill>
            <a:srgbClr val="F0F0F0"/>
          </a:solidFill>
          <a:ln w="6350">
            <a:solidFill>
              <a:srgbClr val="CCCCCC"/>
            </a:solidFill>
            <a:prstDash val="solid"/>
          </a:ln>
        </p:spPr>
      </p:sp>
      <p:sp>
        <p:nvSpPr>
          <p:cNvPr id="55" name="Text 53"/>
          <p:cNvSpPr/>
          <p:nvPr/>
        </p:nvSpPr>
        <p:spPr>
          <a:xfrm>
            <a:off x="2587752" y="326440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Partial</a:t>
            </a:r>
            <a:endParaRPr lang="en-US" sz="1000" dirty="0"/>
          </a:p>
        </p:txBody>
      </p:sp>
      <p:sp>
        <p:nvSpPr>
          <p:cNvPr id="56" name="Shape 54"/>
          <p:cNvSpPr/>
          <p:nvPr/>
        </p:nvSpPr>
        <p:spPr>
          <a:xfrm>
            <a:off x="4617720" y="3264408"/>
            <a:ext cx="2103120" cy="420624"/>
          </a:xfrm>
          <a:prstGeom prst="rect">
            <a:avLst/>
          </a:prstGeom>
          <a:solidFill>
            <a:srgbClr val="F0F0F0"/>
          </a:solidFill>
          <a:ln w="6350">
            <a:solidFill>
              <a:srgbClr val="CCCCCC"/>
            </a:solidFill>
            <a:prstDash val="solid"/>
          </a:ln>
        </p:spPr>
      </p:sp>
      <p:sp>
        <p:nvSpPr>
          <p:cNvPr id="57" name="Text 55"/>
          <p:cNvSpPr/>
          <p:nvPr/>
        </p:nvSpPr>
        <p:spPr>
          <a:xfrm>
            <a:off x="4690872" y="326440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Partial</a:t>
            </a:r>
            <a:endParaRPr lang="en-US" sz="1000" dirty="0"/>
          </a:p>
        </p:txBody>
      </p:sp>
      <p:sp>
        <p:nvSpPr>
          <p:cNvPr id="58" name="Shape 56"/>
          <p:cNvSpPr/>
          <p:nvPr/>
        </p:nvSpPr>
        <p:spPr>
          <a:xfrm>
            <a:off x="6720840" y="3264408"/>
            <a:ext cx="2103120" cy="420624"/>
          </a:xfrm>
          <a:prstGeom prst="rect">
            <a:avLst/>
          </a:prstGeom>
          <a:solidFill>
            <a:srgbClr val="F0F0F0"/>
          </a:solidFill>
          <a:ln w="6350">
            <a:solidFill>
              <a:srgbClr val="CCCCCC"/>
            </a:solidFill>
            <a:prstDash val="solid"/>
          </a:ln>
        </p:spPr>
      </p:sp>
      <p:sp>
        <p:nvSpPr>
          <p:cNvPr id="59" name="Text 57"/>
          <p:cNvSpPr/>
          <p:nvPr/>
        </p:nvSpPr>
        <p:spPr>
          <a:xfrm>
            <a:off x="6793992" y="3264408"/>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Yes ✓ (multi-crop)</a:t>
            </a:r>
            <a:endParaRPr lang="en-US" sz="1000" dirty="0"/>
          </a:p>
        </p:txBody>
      </p:sp>
      <p:sp>
        <p:nvSpPr>
          <p:cNvPr id="60" name="Shape 58"/>
          <p:cNvSpPr/>
          <p:nvPr/>
        </p:nvSpPr>
        <p:spPr>
          <a:xfrm>
            <a:off x="228600" y="3703320"/>
            <a:ext cx="2286000" cy="420624"/>
          </a:xfrm>
          <a:prstGeom prst="rect">
            <a:avLst/>
          </a:prstGeom>
          <a:solidFill>
            <a:srgbClr val="FAFAFA"/>
          </a:solidFill>
          <a:ln w="6350">
            <a:solidFill>
              <a:srgbClr val="CCCCCC"/>
            </a:solidFill>
            <a:prstDash val="solid"/>
          </a:ln>
        </p:spPr>
      </p:sp>
      <p:sp>
        <p:nvSpPr>
          <p:cNvPr id="61" name="Text 59"/>
          <p:cNvSpPr/>
          <p:nvPr/>
        </p:nvSpPr>
        <p:spPr>
          <a:xfrm>
            <a:off x="301752" y="3703320"/>
            <a:ext cx="2139696" cy="420624"/>
          </a:xfrm>
          <a:prstGeom prst="rect">
            <a:avLst/>
          </a:prstGeom>
          <a:noFill/>
          <a:ln/>
        </p:spPr>
        <p:txBody>
          <a:bodyPr wrap="square" rtlCol="0" anchor="ctr"/>
          <a:lstStyle/>
          <a:p>
            <a:pPr marL="0" indent="0" algn="l">
              <a:lnSpc>
                <a:spcPct val="115000"/>
              </a:lnSpc>
              <a:buNone/>
            </a:pPr>
            <a:r>
              <a:rPr lang="en-US" sz="1100" b="1" dirty="0">
                <a:solidFill>
                  <a:srgbClr val="222222"/>
                </a:solidFill>
              </a:rPr>
              <a:t>Training stability</a:t>
            </a:r>
            <a:endParaRPr lang="en-US" sz="1100" dirty="0"/>
          </a:p>
        </p:txBody>
      </p:sp>
      <p:sp>
        <p:nvSpPr>
          <p:cNvPr id="62" name="Shape 60"/>
          <p:cNvSpPr/>
          <p:nvPr/>
        </p:nvSpPr>
        <p:spPr>
          <a:xfrm>
            <a:off x="2514600" y="3703320"/>
            <a:ext cx="2103120" cy="420624"/>
          </a:xfrm>
          <a:prstGeom prst="rect">
            <a:avLst/>
          </a:prstGeom>
          <a:solidFill>
            <a:srgbClr val="FAFAFA"/>
          </a:solidFill>
          <a:ln w="6350">
            <a:solidFill>
              <a:srgbClr val="CCCCCC"/>
            </a:solidFill>
            <a:prstDash val="solid"/>
          </a:ln>
        </p:spPr>
      </p:sp>
      <p:sp>
        <p:nvSpPr>
          <p:cNvPr id="63" name="Text 61"/>
          <p:cNvSpPr/>
          <p:nvPr/>
        </p:nvSpPr>
        <p:spPr>
          <a:xfrm>
            <a:off x="2587752" y="370332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Very stable</a:t>
            </a:r>
            <a:endParaRPr lang="en-US" sz="1000" dirty="0"/>
          </a:p>
        </p:txBody>
      </p:sp>
      <p:sp>
        <p:nvSpPr>
          <p:cNvPr id="64" name="Shape 62"/>
          <p:cNvSpPr/>
          <p:nvPr/>
        </p:nvSpPr>
        <p:spPr>
          <a:xfrm>
            <a:off x="4617720" y="3703320"/>
            <a:ext cx="2103120" cy="420624"/>
          </a:xfrm>
          <a:prstGeom prst="rect">
            <a:avLst/>
          </a:prstGeom>
          <a:solidFill>
            <a:srgbClr val="FAFAFA"/>
          </a:solidFill>
          <a:ln w="6350">
            <a:solidFill>
              <a:srgbClr val="CCCCCC"/>
            </a:solidFill>
            <a:prstDash val="solid"/>
          </a:ln>
        </p:spPr>
      </p:sp>
      <p:sp>
        <p:nvSpPr>
          <p:cNvPr id="65" name="Text 63"/>
          <p:cNvSpPr/>
          <p:nvPr/>
        </p:nvSpPr>
        <p:spPr>
          <a:xfrm>
            <a:off x="4690872" y="370332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Stable</a:t>
            </a:r>
            <a:endParaRPr lang="en-US" sz="1000" dirty="0"/>
          </a:p>
        </p:txBody>
      </p:sp>
      <p:sp>
        <p:nvSpPr>
          <p:cNvPr id="66" name="Shape 64"/>
          <p:cNvSpPr/>
          <p:nvPr/>
        </p:nvSpPr>
        <p:spPr>
          <a:xfrm>
            <a:off x="6720840" y="3703320"/>
            <a:ext cx="2103120" cy="420624"/>
          </a:xfrm>
          <a:prstGeom prst="rect">
            <a:avLst/>
          </a:prstGeom>
          <a:solidFill>
            <a:srgbClr val="FAFAFA"/>
          </a:solidFill>
          <a:ln w="6350">
            <a:solidFill>
              <a:srgbClr val="CCCCCC"/>
            </a:solidFill>
            <a:prstDash val="solid"/>
          </a:ln>
        </p:spPr>
      </p:sp>
      <p:sp>
        <p:nvSpPr>
          <p:cNvPr id="67" name="Text 65"/>
          <p:cNvSpPr/>
          <p:nvPr/>
        </p:nvSpPr>
        <p:spPr>
          <a:xfrm>
            <a:off x="6793992" y="3703320"/>
            <a:ext cx="1956816" cy="420624"/>
          </a:xfrm>
          <a:prstGeom prst="rect">
            <a:avLst/>
          </a:prstGeom>
          <a:noFill/>
          <a:ln/>
        </p:spPr>
        <p:txBody>
          <a:bodyPr wrap="square" rtlCol="0" anchor="ctr"/>
          <a:lstStyle/>
          <a:p>
            <a:pPr marL="0" indent="0" algn="ctr">
              <a:lnSpc>
                <a:spcPct val="115000"/>
              </a:lnSpc>
              <a:buNone/>
            </a:pPr>
            <a:r>
              <a:rPr lang="en-US" sz="1000" dirty="0">
                <a:solidFill>
                  <a:srgbClr val="222222"/>
                </a:solidFill>
              </a:rPr>
              <a:t>Very stable</a:t>
            </a:r>
            <a:endParaRPr lang="en-US" sz="1000" dirty="0"/>
          </a:p>
        </p:txBody>
      </p:sp>
      <p:sp>
        <p:nvSpPr>
          <p:cNvPr id="68" name="Shape 66"/>
          <p:cNvSpPr/>
          <p:nvPr/>
        </p:nvSpPr>
        <p:spPr>
          <a:xfrm>
            <a:off x="228600" y="4142232"/>
            <a:ext cx="2286000" cy="475488"/>
          </a:xfrm>
          <a:prstGeom prst="rect">
            <a:avLst/>
          </a:prstGeom>
          <a:solidFill>
            <a:srgbClr val="E8EAF6"/>
          </a:solidFill>
          <a:ln w="6350">
            <a:solidFill>
              <a:srgbClr val="CCCCCC"/>
            </a:solidFill>
            <a:prstDash val="solid"/>
          </a:ln>
        </p:spPr>
      </p:sp>
      <p:sp>
        <p:nvSpPr>
          <p:cNvPr id="69" name="Text 67"/>
          <p:cNvSpPr/>
          <p:nvPr/>
        </p:nvSpPr>
        <p:spPr>
          <a:xfrm>
            <a:off x="301752" y="4142232"/>
            <a:ext cx="2139696" cy="475488"/>
          </a:xfrm>
          <a:prstGeom prst="rect">
            <a:avLst/>
          </a:prstGeom>
          <a:noFill/>
          <a:ln/>
        </p:spPr>
        <p:txBody>
          <a:bodyPr wrap="square" rtlCol="0" anchor="ctr"/>
          <a:lstStyle/>
          <a:p>
            <a:pPr marL="0" indent="0" algn="l">
              <a:lnSpc>
                <a:spcPct val="115000"/>
              </a:lnSpc>
              <a:buNone/>
            </a:pPr>
            <a:r>
              <a:rPr lang="en-US" sz="1100" b="1" dirty="0">
                <a:solidFill>
                  <a:srgbClr val="222222"/>
                </a:solidFill>
              </a:rPr>
              <a:t>Expected linear probe acc</a:t>
            </a:r>
            <a:endParaRPr lang="en-US" sz="1100" dirty="0"/>
          </a:p>
        </p:txBody>
      </p:sp>
      <p:sp>
        <p:nvSpPr>
          <p:cNvPr id="70" name="Shape 68"/>
          <p:cNvSpPr/>
          <p:nvPr/>
        </p:nvSpPr>
        <p:spPr>
          <a:xfrm>
            <a:off x="2514600" y="4142232"/>
            <a:ext cx="2103120" cy="475488"/>
          </a:xfrm>
          <a:prstGeom prst="rect">
            <a:avLst/>
          </a:prstGeom>
          <a:solidFill>
            <a:srgbClr val="E0F7F6"/>
          </a:solidFill>
          <a:ln w="6350">
            <a:solidFill>
              <a:srgbClr val="CCCCCC"/>
            </a:solidFill>
            <a:prstDash val="solid"/>
          </a:ln>
        </p:spPr>
      </p:sp>
      <p:sp>
        <p:nvSpPr>
          <p:cNvPr id="71" name="Text 69"/>
          <p:cNvSpPr/>
          <p:nvPr/>
        </p:nvSpPr>
        <p:spPr>
          <a:xfrm>
            <a:off x="2587752" y="4142232"/>
            <a:ext cx="1956816" cy="475488"/>
          </a:xfrm>
          <a:prstGeom prst="rect">
            <a:avLst/>
          </a:prstGeom>
          <a:noFill/>
          <a:ln/>
        </p:spPr>
        <p:txBody>
          <a:bodyPr wrap="square" rtlCol="0" anchor="ctr"/>
          <a:lstStyle/>
          <a:p>
            <a:pPr marL="0" indent="0" algn="ctr">
              <a:lnSpc>
                <a:spcPct val="115000"/>
              </a:lnSpc>
              <a:buNone/>
            </a:pPr>
            <a:r>
              <a:rPr lang="en-US" sz="1000" b="1" dirty="0">
                <a:solidFill>
                  <a:srgbClr val="222222"/>
                </a:solidFill>
              </a:rPr>
              <a:t>~68–72%</a:t>
            </a:r>
            <a:endParaRPr lang="en-US" sz="1000" dirty="0"/>
          </a:p>
        </p:txBody>
      </p:sp>
      <p:sp>
        <p:nvSpPr>
          <p:cNvPr id="72" name="Shape 70"/>
          <p:cNvSpPr/>
          <p:nvPr/>
        </p:nvSpPr>
        <p:spPr>
          <a:xfrm>
            <a:off x="4617720" y="4142232"/>
            <a:ext cx="2103120" cy="475488"/>
          </a:xfrm>
          <a:prstGeom prst="rect">
            <a:avLst/>
          </a:prstGeom>
          <a:solidFill>
            <a:srgbClr val="E3F2FD"/>
          </a:solidFill>
          <a:ln w="6350">
            <a:solidFill>
              <a:srgbClr val="CCCCCC"/>
            </a:solidFill>
            <a:prstDash val="solid"/>
          </a:ln>
        </p:spPr>
      </p:sp>
      <p:sp>
        <p:nvSpPr>
          <p:cNvPr id="73" name="Text 71"/>
          <p:cNvSpPr/>
          <p:nvPr/>
        </p:nvSpPr>
        <p:spPr>
          <a:xfrm>
            <a:off x="4690872" y="4142232"/>
            <a:ext cx="1956816" cy="475488"/>
          </a:xfrm>
          <a:prstGeom prst="rect">
            <a:avLst/>
          </a:prstGeom>
          <a:noFill/>
          <a:ln/>
        </p:spPr>
        <p:txBody>
          <a:bodyPr wrap="square" rtlCol="0" anchor="ctr"/>
          <a:lstStyle/>
          <a:p>
            <a:pPr marL="0" indent="0" algn="ctr">
              <a:lnSpc>
                <a:spcPct val="115000"/>
              </a:lnSpc>
              <a:buNone/>
            </a:pPr>
            <a:r>
              <a:rPr lang="en-US" sz="1000" b="1" dirty="0">
                <a:solidFill>
                  <a:srgbClr val="222222"/>
                </a:solidFill>
              </a:rPr>
              <a:t>~66–70%</a:t>
            </a:r>
            <a:endParaRPr lang="en-US" sz="1000" dirty="0"/>
          </a:p>
        </p:txBody>
      </p:sp>
      <p:sp>
        <p:nvSpPr>
          <p:cNvPr id="74" name="Shape 72"/>
          <p:cNvSpPr/>
          <p:nvPr/>
        </p:nvSpPr>
        <p:spPr>
          <a:xfrm>
            <a:off x="6720840" y="4142232"/>
            <a:ext cx="2103120" cy="475488"/>
          </a:xfrm>
          <a:prstGeom prst="rect">
            <a:avLst/>
          </a:prstGeom>
          <a:solidFill>
            <a:srgbClr val="FFF8E1"/>
          </a:solidFill>
          <a:ln w="6350">
            <a:solidFill>
              <a:srgbClr val="CCCCCC"/>
            </a:solidFill>
            <a:prstDash val="solid"/>
          </a:ln>
        </p:spPr>
      </p:sp>
      <p:sp>
        <p:nvSpPr>
          <p:cNvPr id="75" name="Text 73"/>
          <p:cNvSpPr/>
          <p:nvPr/>
        </p:nvSpPr>
        <p:spPr>
          <a:xfrm>
            <a:off x="6793992" y="4142232"/>
            <a:ext cx="1956816" cy="475488"/>
          </a:xfrm>
          <a:prstGeom prst="rect">
            <a:avLst/>
          </a:prstGeom>
          <a:noFill/>
          <a:ln/>
        </p:spPr>
        <p:txBody>
          <a:bodyPr wrap="square" rtlCol="0" anchor="ctr"/>
          <a:lstStyle/>
          <a:p>
            <a:pPr marL="0" indent="0" algn="ctr">
              <a:lnSpc>
                <a:spcPct val="115000"/>
              </a:lnSpc>
              <a:buNone/>
            </a:pPr>
            <a:r>
              <a:rPr lang="en-US" sz="1000" b="1" dirty="0">
                <a:solidFill>
                  <a:srgbClr val="222222"/>
                </a:solidFill>
              </a:rPr>
              <a:t>~70–76%</a:t>
            </a:r>
            <a:endParaRPr lang="en-US" sz="1000" dirty="0"/>
          </a:p>
        </p:txBody>
      </p:sp>
      <p:sp>
        <p:nvSpPr>
          <p:cNvPr id="76" name="Shape 74"/>
          <p:cNvSpPr/>
          <p:nvPr/>
        </p:nvSpPr>
        <p:spPr>
          <a:xfrm>
            <a:off x="228600" y="4581144"/>
            <a:ext cx="2286000" cy="566928"/>
          </a:xfrm>
          <a:prstGeom prst="rect">
            <a:avLst/>
          </a:prstGeom>
          <a:solidFill>
            <a:srgbClr val="E8EAF6"/>
          </a:solidFill>
          <a:ln w="6350">
            <a:solidFill>
              <a:srgbClr val="CCCCCC"/>
            </a:solidFill>
            <a:prstDash val="solid"/>
          </a:ln>
        </p:spPr>
      </p:sp>
      <p:sp>
        <p:nvSpPr>
          <p:cNvPr id="77" name="Text 75"/>
          <p:cNvSpPr/>
          <p:nvPr/>
        </p:nvSpPr>
        <p:spPr>
          <a:xfrm>
            <a:off x="301752" y="4581144"/>
            <a:ext cx="2139696" cy="566928"/>
          </a:xfrm>
          <a:prstGeom prst="rect">
            <a:avLst/>
          </a:prstGeom>
          <a:noFill/>
          <a:ln/>
        </p:spPr>
        <p:txBody>
          <a:bodyPr wrap="square" rtlCol="0" anchor="ctr"/>
          <a:lstStyle/>
          <a:p>
            <a:pPr marL="0" indent="0" algn="l">
              <a:lnSpc>
                <a:spcPct val="115000"/>
              </a:lnSpc>
              <a:buNone/>
            </a:pPr>
            <a:r>
              <a:rPr lang="en-US" sz="1100" b="1" dirty="0">
                <a:solidFill>
                  <a:srgbClr val="222222"/>
                </a:solidFill>
              </a:rPr>
              <a:t>PM25Vision best fit</a:t>
            </a:r>
            <a:endParaRPr lang="en-US" sz="1100" dirty="0"/>
          </a:p>
        </p:txBody>
      </p:sp>
      <p:sp>
        <p:nvSpPr>
          <p:cNvPr id="78" name="Shape 76"/>
          <p:cNvSpPr/>
          <p:nvPr/>
        </p:nvSpPr>
        <p:spPr>
          <a:xfrm>
            <a:off x="2514600" y="4581144"/>
            <a:ext cx="2103120" cy="566928"/>
          </a:xfrm>
          <a:prstGeom prst="rect">
            <a:avLst/>
          </a:prstGeom>
          <a:solidFill>
            <a:srgbClr val="E0F7F6"/>
          </a:solidFill>
          <a:ln w="6350">
            <a:solidFill>
              <a:srgbClr val="CCCCCC"/>
            </a:solidFill>
            <a:prstDash val="solid"/>
          </a:ln>
        </p:spPr>
      </p:sp>
      <p:sp>
        <p:nvSpPr>
          <p:cNvPr id="79" name="Text 77"/>
          <p:cNvSpPr/>
          <p:nvPr/>
        </p:nvSpPr>
        <p:spPr>
          <a:xfrm>
            <a:off x="2587752" y="4581144"/>
            <a:ext cx="1956816" cy="566928"/>
          </a:xfrm>
          <a:prstGeom prst="rect">
            <a:avLst/>
          </a:prstGeom>
          <a:noFill/>
          <a:ln/>
        </p:spPr>
        <p:txBody>
          <a:bodyPr wrap="square" rtlCol="0" anchor="ctr"/>
          <a:lstStyle/>
          <a:p>
            <a:pPr marL="0" indent="0" algn="ctr">
              <a:lnSpc>
                <a:spcPct val="115000"/>
              </a:lnSpc>
              <a:buNone/>
            </a:pPr>
            <a:r>
              <a:rPr lang="en-US" sz="1000" b="1" dirty="0">
                <a:solidFill>
                  <a:srgbClr val="222222"/>
                </a:solidFill>
              </a:rPr>
              <a:t>Class imbalance</a:t>
            </a:r>
            <a:endParaRPr lang="en-US" sz="1000" dirty="0"/>
          </a:p>
          <a:p>
            <a:pPr marL="0" indent="0" algn="ctr">
              <a:lnSpc>
                <a:spcPct val="115000"/>
              </a:lnSpc>
              <a:buNone/>
            </a:pPr>
            <a:r>
              <a:rPr lang="en-US" sz="1000" b="1" dirty="0">
                <a:solidFill>
                  <a:srgbClr val="222222"/>
                </a:solidFill>
              </a:rPr>
              <a:t>(no negatives)</a:t>
            </a:r>
            <a:endParaRPr lang="en-US" sz="1000" dirty="0"/>
          </a:p>
        </p:txBody>
      </p:sp>
      <p:sp>
        <p:nvSpPr>
          <p:cNvPr id="80" name="Shape 78"/>
          <p:cNvSpPr/>
          <p:nvPr/>
        </p:nvSpPr>
        <p:spPr>
          <a:xfrm>
            <a:off x="4617720" y="4581144"/>
            <a:ext cx="2103120" cy="566928"/>
          </a:xfrm>
          <a:prstGeom prst="rect">
            <a:avLst/>
          </a:prstGeom>
          <a:solidFill>
            <a:srgbClr val="E3F2FD"/>
          </a:solidFill>
          <a:ln w="6350">
            <a:solidFill>
              <a:srgbClr val="CCCCCC"/>
            </a:solidFill>
            <a:prstDash val="solid"/>
          </a:ln>
        </p:spPr>
      </p:sp>
      <p:sp>
        <p:nvSpPr>
          <p:cNvPr id="81" name="Text 79"/>
          <p:cNvSpPr/>
          <p:nvPr/>
        </p:nvSpPr>
        <p:spPr>
          <a:xfrm>
            <a:off x="4690872" y="4581144"/>
            <a:ext cx="1956816" cy="566928"/>
          </a:xfrm>
          <a:prstGeom prst="rect">
            <a:avLst/>
          </a:prstGeom>
          <a:noFill/>
          <a:ln/>
        </p:spPr>
        <p:txBody>
          <a:bodyPr wrap="square" rtlCol="0" anchor="ctr"/>
          <a:lstStyle/>
          <a:p>
            <a:pPr marL="0" indent="0" algn="ctr">
              <a:lnSpc>
                <a:spcPct val="115000"/>
              </a:lnSpc>
              <a:buNone/>
            </a:pPr>
            <a:r>
              <a:rPr lang="en-US" sz="1000" b="1" dirty="0">
                <a:solidFill>
                  <a:srgbClr val="222222"/>
                </a:solidFill>
              </a:rPr>
              <a:t>Small batch</a:t>
            </a:r>
            <a:endParaRPr lang="en-US" sz="1000" dirty="0"/>
          </a:p>
          <a:p>
            <a:pPr marL="0" indent="0" algn="ctr">
              <a:lnSpc>
                <a:spcPct val="115000"/>
              </a:lnSpc>
              <a:buNone/>
            </a:pPr>
            <a:r>
              <a:rPr lang="en-US" sz="1000" b="1" dirty="0">
                <a:solidFill>
                  <a:srgbClr val="222222"/>
                </a:solidFill>
              </a:rPr>
              <a:t>(batch-independent loss)</a:t>
            </a:r>
            <a:endParaRPr lang="en-US" sz="1000" dirty="0"/>
          </a:p>
        </p:txBody>
      </p:sp>
      <p:sp>
        <p:nvSpPr>
          <p:cNvPr id="82" name="Shape 80"/>
          <p:cNvSpPr/>
          <p:nvPr/>
        </p:nvSpPr>
        <p:spPr>
          <a:xfrm>
            <a:off x="6720840" y="4581144"/>
            <a:ext cx="2103120" cy="566928"/>
          </a:xfrm>
          <a:prstGeom prst="rect">
            <a:avLst/>
          </a:prstGeom>
          <a:solidFill>
            <a:srgbClr val="FFF8E1"/>
          </a:solidFill>
          <a:ln w="6350">
            <a:solidFill>
              <a:srgbClr val="CCCCCC"/>
            </a:solidFill>
            <a:prstDash val="solid"/>
          </a:ln>
        </p:spPr>
      </p:sp>
      <p:sp>
        <p:nvSpPr>
          <p:cNvPr id="83" name="Text 81"/>
          <p:cNvSpPr/>
          <p:nvPr/>
        </p:nvSpPr>
        <p:spPr>
          <a:xfrm>
            <a:off x="6793992" y="4581144"/>
            <a:ext cx="1956816" cy="566928"/>
          </a:xfrm>
          <a:prstGeom prst="rect">
            <a:avLst/>
          </a:prstGeom>
          <a:noFill/>
          <a:ln/>
        </p:spPr>
        <p:txBody>
          <a:bodyPr wrap="square" rtlCol="0" anchor="ctr"/>
          <a:lstStyle/>
          <a:p>
            <a:pPr marL="0" indent="0" algn="ctr">
              <a:lnSpc>
                <a:spcPct val="115000"/>
              </a:lnSpc>
              <a:buNone/>
            </a:pPr>
            <a:r>
              <a:rPr lang="en-US" sz="1000" b="1" dirty="0">
                <a:solidFill>
                  <a:srgbClr val="222222"/>
                </a:solidFill>
              </a:rPr>
              <a:t>Global haze signal</a:t>
            </a:r>
            <a:endParaRPr lang="en-US" sz="1000" dirty="0"/>
          </a:p>
          <a:p>
            <a:pPr marL="0" indent="0" algn="ctr">
              <a:lnSpc>
                <a:spcPct val="115000"/>
              </a:lnSpc>
              <a:buNone/>
            </a:pPr>
            <a:r>
              <a:rPr lang="en-US" sz="1000" b="1" dirty="0">
                <a:solidFill>
                  <a:srgbClr val="222222"/>
                </a:solidFill>
              </a:rPr>
              <a:t>(multi-crop design)</a:t>
            </a:r>
            <a:endParaRPr lang="en-US" sz="1000" dirty="0"/>
          </a:p>
        </p:txBody>
      </p:sp>
      <p:sp>
        <p:nvSpPr>
          <p:cNvPr id="84" name="Text 82"/>
          <p:cNvSpPr/>
          <p:nvPr/>
        </p:nvSpPr>
        <p:spPr>
          <a:xfrm>
            <a:off x="228600" y="4882896"/>
            <a:ext cx="8686800" cy="219456"/>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A824"/>
          </a:solidFill>
          <a:ln w="12700">
            <a:solidFill>
              <a:srgbClr val="E9A824"/>
            </a:solidFill>
            <a:prstDash val="solid"/>
          </a:ln>
        </p:spPr>
      </p:sp>
      <p:sp>
        <p:nvSpPr>
          <p:cNvPr id="3" name="Text 1"/>
          <p:cNvSpPr/>
          <p:nvPr/>
        </p:nvSpPr>
        <p:spPr>
          <a:xfrm>
            <a:off x="320040" y="228600"/>
            <a:ext cx="8503920" cy="5486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Summary</a:t>
            </a:r>
            <a:endParaRPr lang="en-US" sz="3200" dirty="0"/>
          </a:p>
        </p:txBody>
      </p:sp>
      <p:sp>
        <p:nvSpPr>
          <p:cNvPr id="4" name="Text 2"/>
          <p:cNvSpPr/>
          <p:nvPr/>
        </p:nvSpPr>
        <p:spPr>
          <a:xfrm>
            <a:off x="320040" y="804672"/>
            <a:ext cx="8503920" cy="320040"/>
          </a:xfrm>
          <a:prstGeom prst="rect">
            <a:avLst/>
          </a:prstGeom>
          <a:noFill/>
          <a:ln/>
        </p:spPr>
        <p:txBody>
          <a:bodyPr wrap="square" rtlCol="0" anchor="ctr"/>
          <a:lstStyle/>
          <a:p>
            <a:pPr marL="0" indent="0">
              <a:buNone/>
            </a:pPr>
            <a:r>
              <a:rPr lang="en-US" sz="1300" dirty="0">
                <a:solidFill>
                  <a:srgbClr val="94A3B8"/>
                </a:solidFill>
              </a:rPr>
              <a:t>Three SSL methods selected to maximise linear-probe accuracy on PM25Vision</a:t>
            </a:r>
            <a:endParaRPr lang="en-US" sz="1300" dirty="0"/>
          </a:p>
        </p:txBody>
      </p:sp>
      <p:sp>
        <p:nvSpPr>
          <p:cNvPr id="5" name="Shape 3"/>
          <p:cNvSpPr/>
          <p:nvPr/>
        </p:nvSpPr>
        <p:spPr>
          <a:xfrm>
            <a:off x="320040" y="1234440"/>
            <a:ext cx="2788920" cy="2724912"/>
          </a:xfrm>
          <a:prstGeom prst="rect">
            <a:avLst/>
          </a:prstGeom>
          <a:solidFill>
            <a:srgbClr val="2E4057"/>
          </a:solidFill>
          <a:ln w="25400">
            <a:solidFill>
              <a:srgbClr val="0A9396"/>
            </a:solidFill>
            <a:prstDash val="solid"/>
          </a:ln>
          <a:effectLst>
            <a:outerShdw blurRad="101600" dist="38100" dir="8100000" algn="bl" rotWithShape="0">
              <a:srgbClr val="000000">
                <a:alpha val="18000"/>
              </a:srgbClr>
            </a:outerShdw>
          </a:effectLst>
        </p:spPr>
      </p:sp>
      <p:sp>
        <p:nvSpPr>
          <p:cNvPr id="6" name="Shape 4"/>
          <p:cNvSpPr/>
          <p:nvPr/>
        </p:nvSpPr>
        <p:spPr>
          <a:xfrm>
            <a:off x="320040" y="1234440"/>
            <a:ext cx="2788920" cy="384048"/>
          </a:xfrm>
          <a:prstGeom prst="rect">
            <a:avLst/>
          </a:prstGeom>
          <a:solidFill>
            <a:srgbClr val="0A9396"/>
          </a:solidFill>
          <a:ln w="12700">
            <a:solidFill>
              <a:srgbClr val="0A9396"/>
            </a:solidFill>
            <a:prstDash val="solid"/>
          </a:ln>
        </p:spPr>
      </p:sp>
      <p:sp>
        <p:nvSpPr>
          <p:cNvPr id="7" name="Text 5"/>
          <p:cNvSpPr/>
          <p:nvPr/>
        </p:nvSpPr>
        <p:spPr>
          <a:xfrm>
            <a:off x="320040" y="1234440"/>
            <a:ext cx="2788920" cy="384048"/>
          </a:xfrm>
          <a:prstGeom prst="rect">
            <a:avLst/>
          </a:prstGeom>
          <a:noFill/>
          <a:ln/>
        </p:spPr>
        <p:txBody>
          <a:bodyPr wrap="square" lIns="0" tIns="0" rIns="0" bIns="0" rtlCol="0" anchor="ctr"/>
          <a:lstStyle/>
          <a:p>
            <a:pPr marL="0" indent="0" algn="ctr">
              <a:buNone/>
            </a:pPr>
            <a:r>
              <a:rPr lang="en-US" sz="1500" b="1" dirty="0">
                <a:solidFill>
                  <a:srgbClr val="FFFFFF"/>
                </a:solidFill>
              </a:rPr>
              <a:t>BYOL</a:t>
            </a:r>
            <a:endParaRPr lang="en-US" sz="1500" dirty="0"/>
          </a:p>
        </p:txBody>
      </p:sp>
      <p:sp>
        <p:nvSpPr>
          <p:cNvPr id="8" name="Text 6"/>
          <p:cNvSpPr/>
          <p:nvPr/>
        </p:nvSpPr>
        <p:spPr>
          <a:xfrm>
            <a:off x="411480" y="1664208"/>
            <a:ext cx="2606040" cy="292608"/>
          </a:xfrm>
          <a:prstGeom prst="rect">
            <a:avLst/>
          </a:prstGeom>
          <a:noFill/>
          <a:ln/>
        </p:spPr>
        <p:txBody>
          <a:bodyPr wrap="square" rtlCol="0" anchor="ctr"/>
          <a:lstStyle/>
          <a:p>
            <a:pPr marL="0" indent="0" algn="ctr">
              <a:buNone/>
            </a:pPr>
            <a:r>
              <a:rPr lang="en-US" sz="1000" i="1" dirty="0">
                <a:solidFill>
                  <a:srgbClr val="0A9396"/>
                </a:solidFill>
              </a:rPr>
              <a:t>Predictive · Student-Teacher</a:t>
            </a:r>
            <a:endParaRPr lang="en-US" sz="1000" dirty="0"/>
          </a:p>
        </p:txBody>
      </p:sp>
      <p:sp>
        <p:nvSpPr>
          <p:cNvPr id="9" name="Text 7"/>
          <p:cNvSpPr/>
          <p:nvPr/>
        </p:nvSpPr>
        <p:spPr>
          <a:xfrm>
            <a:off x="429768" y="1993392"/>
            <a:ext cx="2569464" cy="1755648"/>
          </a:xfrm>
          <a:prstGeom prst="rect">
            <a:avLst/>
          </a:prstGeom>
          <a:noFill/>
          <a:ln/>
        </p:spPr>
        <p:txBody>
          <a:bodyPr wrap="square" rtlCol="0" anchor="t"/>
          <a:lstStyle/>
          <a:p>
            <a:pPr marL="0" indent="0">
              <a:lnSpc>
                <a:spcPct val="138000"/>
              </a:lnSpc>
              <a:buNone/>
            </a:pPr>
            <a:r>
              <a:rPr lang="en-US" sz="1050" dirty="0">
                <a:solidFill>
                  <a:srgbClr val="CCCCCC"/>
                </a:solidFill>
              </a:rPr>
              <a:t>Online network predicts the momentum teacher's representation. No negatives — immune to class imbalance. EMA teacher stabilises training on 11k images. Expected linear probe accuracy: 68–72%.</a:t>
            </a:r>
            <a:endParaRPr lang="en-US" sz="1050" dirty="0"/>
          </a:p>
        </p:txBody>
      </p:sp>
      <p:sp>
        <p:nvSpPr>
          <p:cNvPr id="10" name="Shape 8"/>
          <p:cNvSpPr/>
          <p:nvPr/>
        </p:nvSpPr>
        <p:spPr>
          <a:xfrm>
            <a:off x="868680" y="3721608"/>
            <a:ext cx="1691640" cy="201168"/>
          </a:xfrm>
          <a:prstGeom prst="roundRect">
            <a:avLst>
              <a:gd name="adj" fmla="val 27273"/>
            </a:avLst>
          </a:prstGeom>
          <a:solidFill>
            <a:srgbClr val="0A9396">
              <a:alpha val="50000"/>
            </a:srgbClr>
          </a:solidFill>
          <a:ln w="12700">
            <a:solidFill>
              <a:srgbClr val="0A9396"/>
            </a:solidFill>
            <a:prstDash val="solid"/>
          </a:ln>
        </p:spPr>
      </p:sp>
      <p:sp>
        <p:nvSpPr>
          <p:cNvPr id="11" name="Text 9"/>
          <p:cNvSpPr/>
          <p:nvPr/>
        </p:nvSpPr>
        <p:spPr>
          <a:xfrm>
            <a:off x="868680" y="3721608"/>
            <a:ext cx="1691640" cy="201168"/>
          </a:xfrm>
          <a:prstGeom prst="rect">
            <a:avLst/>
          </a:prstGeom>
          <a:noFill/>
          <a:ln/>
        </p:spPr>
        <p:txBody>
          <a:bodyPr wrap="square" lIns="0" tIns="0" rIns="0" bIns="0" rtlCol="0" anchor="ctr"/>
          <a:lstStyle/>
          <a:p>
            <a:pPr marL="0" indent="0" algn="ctr">
              <a:buNone/>
            </a:pPr>
            <a:r>
              <a:rPr lang="en-US" sz="900" b="1" dirty="0">
                <a:solidFill>
                  <a:srgbClr val="FFFFFF"/>
                </a:solidFill>
              </a:rPr>
              <a:t>Expected: ~68–72%</a:t>
            </a:r>
            <a:endParaRPr lang="en-US" sz="900" dirty="0"/>
          </a:p>
        </p:txBody>
      </p:sp>
      <p:sp>
        <p:nvSpPr>
          <p:cNvPr id="12" name="Shape 10"/>
          <p:cNvSpPr/>
          <p:nvPr/>
        </p:nvSpPr>
        <p:spPr>
          <a:xfrm>
            <a:off x="3246120" y="1234440"/>
            <a:ext cx="2788920" cy="2724912"/>
          </a:xfrm>
          <a:prstGeom prst="rect">
            <a:avLst/>
          </a:prstGeom>
          <a:solidFill>
            <a:srgbClr val="2E4057"/>
          </a:solidFill>
          <a:ln w="25400">
            <a:solidFill>
              <a:srgbClr val="1565C0"/>
            </a:solidFill>
            <a:prstDash val="solid"/>
          </a:ln>
          <a:effectLst>
            <a:outerShdw blurRad="101600" dist="38100" dir="8100000" algn="bl" rotWithShape="0">
              <a:srgbClr val="000000">
                <a:alpha val="18000"/>
              </a:srgbClr>
            </a:outerShdw>
          </a:effectLst>
        </p:spPr>
      </p:sp>
      <p:sp>
        <p:nvSpPr>
          <p:cNvPr id="13" name="Shape 11"/>
          <p:cNvSpPr/>
          <p:nvPr/>
        </p:nvSpPr>
        <p:spPr>
          <a:xfrm>
            <a:off x="3246120" y="1234440"/>
            <a:ext cx="2788920" cy="384048"/>
          </a:xfrm>
          <a:prstGeom prst="rect">
            <a:avLst/>
          </a:prstGeom>
          <a:solidFill>
            <a:srgbClr val="1565C0"/>
          </a:solidFill>
          <a:ln w="12700">
            <a:solidFill>
              <a:srgbClr val="1565C0"/>
            </a:solidFill>
            <a:prstDash val="solid"/>
          </a:ln>
        </p:spPr>
      </p:sp>
      <p:sp>
        <p:nvSpPr>
          <p:cNvPr id="14" name="Text 12"/>
          <p:cNvSpPr/>
          <p:nvPr/>
        </p:nvSpPr>
        <p:spPr>
          <a:xfrm>
            <a:off x="3246120" y="1234440"/>
            <a:ext cx="2788920" cy="384048"/>
          </a:xfrm>
          <a:prstGeom prst="rect">
            <a:avLst/>
          </a:prstGeom>
          <a:noFill/>
          <a:ln/>
        </p:spPr>
        <p:txBody>
          <a:bodyPr wrap="square" lIns="0" tIns="0" rIns="0" bIns="0" rtlCol="0" anchor="ctr"/>
          <a:lstStyle/>
          <a:p>
            <a:pPr marL="0" indent="0" algn="ctr">
              <a:buNone/>
            </a:pPr>
            <a:r>
              <a:rPr lang="en-US" sz="1500" b="1" dirty="0">
                <a:solidFill>
                  <a:srgbClr val="FFFFFF"/>
                </a:solidFill>
              </a:rPr>
              <a:t>Barlow Twins</a:t>
            </a:r>
            <a:endParaRPr lang="en-US" sz="1500" dirty="0"/>
          </a:p>
        </p:txBody>
      </p:sp>
      <p:sp>
        <p:nvSpPr>
          <p:cNvPr id="15" name="Text 13"/>
          <p:cNvSpPr/>
          <p:nvPr/>
        </p:nvSpPr>
        <p:spPr>
          <a:xfrm>
            <a:off x="3337560" y="1664208"/>
            <a:ext cx="2606040" cy="292608"/>
          </a:xfrm>
          <a:prstGeom prst="rect">
            <a:avLst/>
          </a:prstGeom>
          <a:noFill/>
          <a:ln/>
        </p:spPr>
        <p:txBody>
          <a:bodyPr wrap="square" rtlCol="0" anchor="ctr"/>
          <a:lstStyle/>
          <a:p>
            <a:pPr marL="0" indent="0" algn="ctr">
              <a:buNone/>
            </a:pPr>
            <a:r>
              <a:rPr lang="en-US" sz="1000" i="1" dirty="0">
                <a:solidFill>
                  <a:srgbClr val="1565C0"/>
                </a:solidFill>
              </a:rPr>
              <a:t>Redundancy-Reduction Loss</a:t>
            </a:r>
            <a:endParaRPr lang="en-US" sz="1000" dirty="0"/>
          </a:p>
        </p:txBody>
      </p:sp>
      <p:sp>
        <p:nvSpPr>
          <p:cNvPr id="16" name="Text 14"/>
          <p:cNvSpPr/>
          <p:nvPr/>
        </p:nvSpPr>
        <p:spPr>
          <a:xfrm>
            <a:off x="3355848" y="1993392"/>
            <a:ext cx="2569464" cy="1755648"/>
          </a:xfrm>
          <a:prstGeom prst="rect">
            <a:avLst/>
          </a:prstGeom>
          <a:noFill/>
          <a:ln/>
        </p:spPr>
        <p:txBody>
          <a:bodyPr wrap="square" rtlCol="0" anchor="t"/>
          <a:lstStyle/>
          <a:p>
            <a:pPr marL="0" indent="0">
              <a:lnSpc>
                <a:spcPct val="138000"/>
              </a:lnSpc>
              <a:buNone/>
            </a:pPr>
            <a:r>
              <a:rPr lang="en-US" sz="1050" dirty="0">
                <a:solidFill>
                  <a:srgbClr val="CCCCCC"/>
                </a:solidFill>
              </a:rPr>
              <a:t>Cross-correlation of two views pushed toward identity matrix. Batch-size independent — batch 32 performs as well as batch 2048. Consistently outperforms SimCLR at small batch. Expected: 66–70%.</a:t>
            </a:r>
            <a:endParaRPr lang="en-US" sz="1050" dirty="0"/>
          </a:p>
        </p:txBody>
      </p:sp>
      <p:sp>
        <p:nvSpPr>
          <p:cNvPr id="17" name="Shape 15"/>
          <p:cNvSpPr/>
          <p:nvPr/>
        </p:nvSpPr>
        <p:spPr>
          <a:xfrm>
            <a:off x="3794760" y="3721608"/>
            <a:ext cx="1691640" cy="201168"/>
          </a:xfrm>
          <a:prstGeom prst="roundRect">
            <a:avLst>
              <a:gd name="adj" fmla="val 27273"/>
            </a:avLst>
          </a:prstGeom>
          <a:solidFill>
            <a:srgbClr val="1565C0">
              <a:alpha val="50000"/>
            </a:srgbClr>
          </a:solidFill>
          <a:ln w="12700">
            <a:solidFill>
              <a:srgbClr val="1565C0"/>
            </a:solidFill>
            <a:prstDash val="solid"/>
          </a:ln>
        </p:spPr>
      </p:sp>
      <p:sp>
        <p:nvSpPr>
          <p:cNvPr id="18" name="Text 16"/>
          <p:cNvSpPr/>
          <p:nvPr/>
        </p:nvSpPr>
        <p:spPr>
          <a:xfrm>
            <a:off x="3794760" y="3721608"/>
            <a:ext cx="1691640" cy="201168"/>
          </a:xfrm>
          <a:prstGeom prst="rect">
            <a:avLst/>
          </a:prstGeom>
          <a:noFill/>
          <a:ln/>
        </p:spPr>
        <p:txBody>
          <a:bodyPr wrap="square" lIns="0" tIns="0" rIns="0" bIns="0" rtlCol="0" anchor="ctr"/>
          <a:lstStyle/>
          <a:p>
            <a:pPr marL="0" indent="0" algn="ctr">
              <a:buNone/>
            </a:pPr>
            <a:r>
              <a:rPr lang="en-US" sz="900" b="1" dirty="0">
                <a:solidFill>
                  <a:srgbClr val="FFFFFF"/>
                </a:solidFill>
              </a:rPr>
              <a:t>Expected: ~66–70%</a:t>
            </a:r>
            <a:endParaRPr lang="en-US" sz="900" dirty="0"/>
          </a:p>
        </p:txBody>
      </p:sp>
      <p:sp>
        <p:nvSpPr>
          <p:cNvPr id="19" name="Shape 17"/>
          <p:cNvSpPr/>
          <p:nvPr/>
        </p:nvSpPr>
        <p:spPr>
          <a:xfrm>
            <a:off x="6172200" y="1234440"/>
            <a:ext cx="2788920" cy="2724912"/>
          </a:xfrm>
          <a:prstGeom prst="rect">
            <a:avLst/>
          </a:prstGeom>
          <a:solidFill>
            <a:srgbClr val="2E4057"/>
          </a:solidFill>
          <a:ln w="25400">
            <a:solidFill>
              <a:srgbClr val="E9A824"/>
            </a:solidFill>
            <a:prstDash val="solid"/>
          </a:ln>
          <a:effectLst>
            <a:outerShdw blurRad="101600" dist="38100" dir="8100000" algn="bl" rotWithShape="0">
              <a:srgbClr val="000000">
                <a:alpha val="18000"/>
              </a:srgbClr>
            </a:outerShdw>
          </a:effectLst>
        </p:spPr>
      </p:sp>
      <p:sp>
        <p:nvSpPr>
          <p:cNvPr id="20" name="Shape 18"/>
          <p:cNvSpPr/>
          <p:nvPr/>
        </p:nvSpPr>
        <p:spPr>
          <a:xfrm>
            <a:off x="6172200" y="1234440"/>
            <a:ext cx="2788920" cy="384048"/>
          </a:xfrm>
          <a:prstGeom prst="rect">
            <a:avLst/>
          </a:prstGeom>
          <a:solidFill>
            <a:srgbClr val="E9A824"/>
          </a:solidFill>
          <a:ln w="12700">
            <a:solidFill>
              <a:srgbClr val="E9A824"/>
            </a:solidFill>
            <a:prstDash val="solid"/>
          </a:ln>
        </p:spPr>
      </p:sp>
      <p:sp>
        <p:nvSpPr>
          <p:cNvPr id="21" name="Text 19"/>
          <p:cNvSpPr/>
          <p:nvPr/>
        </p:nvSpPr>
        <p:spPr>
          <a:xfrm>
            <a:off x="6172200" y="1234440"/>
            <a:ext cx="2788920" cy="384048"/>
          </a:xfrm>
          <a:prstGeom prst="rect">
            <a:avLst/>
          </a:prstGeom>
          <a:noFill/>
          <a:ln/>
        </p:spPr>
        <p:txBody>
          <a:bodyPr wrap="square" lIns="0" tIns="0" rIns="0" bIns="0" rtlCol="0" anchor="ctr"/>
          <a:lstStyle/>
          <a:p>
            <a:pPr marL="0" indent="0" algn="ctr">
              <a:buNone/>
            </a:pPr>
            <a:r>
              <a:rPr lang="en-US" sz="1500" b="1" dirty="0">
                <a:solidFill>
                  <a:srgbClr val="FFFFFF"/>
                </a:solidFill>
              </a:rPr>
              <a:t>DINO</a:t>
            </a:r>
            <a:endParaRPr lang="en-US" sz="1500" dirty="0"/>
          </a:p>
        </p:txBody>
      </p:sp>
      <p:sp>
        <p:nvSpPr>
          <p:cNvPr id="22" name="Text 20"/>
          <p:cNvSpPr/>
          <p:nvPr/>
        </p:nvSpPr>
        <p:spPr>
          <a:xfrm>
            <a:off x="6263640" y="1664208"/>
            <a:ext cx="2606040" cy="292608"/>
          </a:xfrm>
          <a:prstGeom prst="rect">
            <a:avLst/>
          </a:prstGeom>
          <a:noFill/>
          <a:ln/>
        </p:spPr>
        <p:txBody>
          <a:bodyPr wrap="square" rtlCol="0" anchor="ctr"/>
          <a:lstStyle/>
          <a:p>
            <a:pPr marL="0" indent="0" algn="ctr">
              <a:buNone/>
            </a:pPr>
            <a:r>
              <a:rPr lang="en-US" sz="1000" i="1" dirty="0">
                <a:solidFill>
                  <a:srgbClr val="E9A824"/>
                </a:solidFill>
              </a:rPr>
              <a:t>Self-Distillation · Multi-Crop</a:t>
            </a:r>
            <a:endParaRPr lang="en-US" sz="1000" dirty="0"/>
          </a:p>
        </p:txBody>
      </p:sp>
      <p:sp>
        <p:nvSpPr>
          <p:cNvPr id="23" name="Text 21"/>
          <p:cNvSpPr/>
          <p:nvPr/>
        </p:nvSpPr>
        <p:spPr>
          <a:xfrm>
            <a:off x="6281928" y="1993392"/>
            <a:ext cx="2569464" cy="1755648"/>
          </a:xfrm>
          <a:prstGeom prst="rect">
            <a:avLst/>
          </a:prstGeom>
          <a:noFill/>
          <a:ln/>
        </p:spPr>
        <p:txBody>
          <a:bodyPr wrap="square" rtlCol="0" anchor="t"/>
          <a:lstStyle/>
          <a:p>
            <a:pPr marL="0" indent="0">
              <a:lnSpc>
                <a:spcPct val="138000"/>
              </a:lnSpc>
              <a:buNone/>
            </a:pPr>
            <a:r>
              <a:rPr lang="en-US" sz="1050" dirty="0">
                <a:solidFill>
                  <a:srgbClr val="CCCCCC"/>
                </a:solidFill>
              </a:rPr>
              <a:t>Student predicts teacher's global-crop representation from local crops. Multi-crop explicitly encodes whole-scene haze signal. Highest linear probe accuracy in small-dataset SSL. Expected: 70–76%.</a:t>
            </a:r>
            <a:endParaRPr lang="en-US" sz="1050" dirty="0"/>
          </a:p>
        </p:txBody>
      </p:sp>
      <p:sp>
        <p:nvSpPr>
          <p:cNvPr id="24" name="Shape 22"/>
          <p:cNvSpPr/>
          <p:nvPr/>
        </p:nvSpPr>
        <p:spPr>
          <a:xfrm>
            <a:off x="6720840" y="3721608"/>
            <a:ext cx="1691640" cy="201168"/>
          </a:xfrm>
          <a:prstGeom prst="roundRect">
            <a:avLst>
              <a:gd name="adj" fmla="val 27273"/>
            </a:avLst>
          </a:prstGeom>
          <a:solidFill>
            <a:srgbClr val="E9A824">
              <a:alpha val="50000"/>
            </a:srgbClr>
          </a:solidFill>
          <a:ln w="12700">
            <a:solidFill>
              <a:srgbClr val="E9A824"/>
            </a:solidFill>
            <a:prstDash val="solid"/>
          </a:ln>
        </p:spPr>
      </p:sp>
      <p:sp>
        <p:nvSpPr>
          <p:cNvPr id="25" name="Text 23"/>
          <p:cNvSpPr/>
          <p:nvPr/>
        </p:nvSpPr>
        <p:spPr>
          <a:xfrm>
            <a:off x="6720840" y="3721608"/>
            <a:ext cx="1691640" cy="201168"/>
          </a:xfrm>
          <a:prstGeom prst="rect">
            <a:avLst/>
          </a:prstGeom>
          <a:noFill/>
          <a:ln/>
        </p:spPr>
        <p:txBody>
          <a:bodyPr wrap="square" lIns="0" tIns="0" rIns="0" bIns="0" rtlCol="0" anchor="ctr"/>
          <a:lstStyle/>
          <a:p>
            <a:pPr marL="0" indent="0" algn="ctr">
              <a:buNone/>
            </a:pPr>
            <a:r>
              <a:rPr lang="en-US" sz="900" b="1" dirty="0">
                <a:solidFill>
                  <a:srgbClr val="FFFFFF"/>
                </a:solidFill>
              </a:rPr>
              <a:t>Expected: ~70–76%</a:t>
            </a:r>
            <a:endParaRPr lang="en-US" sz="900" dirty="0"/>
          </a:p>
        </p:txBody>
      </p:sp>
      <p:sp>
        <p:nvSpPr>
          <p:cNvPr id="26" name="Shape 24"/>
          <p:cNvSpPr/>
          <p:nvPr/>
        </p:nvSpPr>
        <p:spPr>
          <a:xfrm>
            <a:off x="320040" y="4041648"/>
            <a:ext cx="8503920" cy="960120"/>
          </a:xfrm>
          <a:prstGeom prst="rect">
            <a:avLst/>
          </a:prstGeom>
          <a:solidFill>
            <a:srgbClr val="1A2535"/>
          </a:solidFill>
          <a:ln w="12700">
            <a:solidFill>
              <a:srgbClr val="2E4057"/>
            </a:solidFill>
            <a:prstDash val="solid"/>
          </a:ln>
        </p:spPr>
      </p:sp>
      <p:sp>
        <p:nvSpPr>
          <p:cNvPr id="27" name="Text 25"/>
          <p:cNvSpPr/>
          <p:nvPr/>
        </p:nvSpPr>
        <p:spPr>
          <a:xfrm>
            <a:off x="457200" y="4078224"/>
            <a:ext cx="1097280" cy="201168"/>
          </a:xfrm>
          <a:prstGeom prst="rect">
            <a:avLst/>
          </a:prstGeom>
          <a:noFill/>
          <a:ln/>
        </p:spPr>
        <p:txBody>
          <a:bodyPr wrap="square" rtlCol="0" anchor="ctr"/>
          <a:lstStyle/>
          <a:p>
            <a:pPr marL="0" indent="0">
              <a:buNone/>
            </a:pPr>
            <a:r>
              <a:rPr lang="en-US" sz="1000" b="1" dirty="0">
                <a:solidFill>
                  <a:srgbClr val="0A9396"/>
                </a:solidFill>
              </a:rPr>
              <a:t>References</a:t>
            </a:r>
            <a:endParaRPr lang="en-US" sz="1000" dirty="0"/>
          </a:p>
        </p:txBody>
      </p:sp>
      <p:sp>
        <p:nvSpPr>
          <p:cNvPr id="28" name="Text 26"/>
          <p:cNvSpPr/>
          <p:nvPr/>
        </p:nvSpPr>
        <p:spPr>
          <a:xfrm>
            <a:off x="457200" y="4297680"/>
            <a:ext cx="8229600" cy="658368"/>
          </a:xfrm>
          <a:prstGeom prst="rect">
            <a:avLst/>
          </a:prstGeom>
          <a:noFill/>
          <a:ln/>
        </p:spPr>
        <p:txBody>
          <a:bodyPr wrap="square" rtlCol="0" anchor="ctr"/>
          <a:lstStyle/>
          <a:p>
            <a:pPr marL="0" indent="0">
              <a:lnSpc>
                <a:spcPct val="135000"/>
              </a:lnSpc>
              <a:buNone/>
            </a:pPr>
            <a:r>
              <a:rPr lang="en-US" sz="900" dirty="0">
                <a:solidFill>
                  <a:srgbClr val="AAAAAA"/>
                </a:solidFill>
              </a:rPr>
              <a:t>[1] Grill J.-B. et al. (2020). Bootstrap Your Own Latent. NeurIPS.  [2] Zbontar J. et al. (2021). Barlow Twins: Self-Supervised Learning via Redundancy Reduction. ICML.  [3] Caron M. et al. (2021). Emerging Properties in Self-Supervised Vision Transformers (DINO). ICCV.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1240</Words>
  <Application>Microsoft Office PowerPoint</Application>
  <PresentationFormat>On-screen Show (16:9)</PresentationFormat>
  <Paragraphs>191</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3 — SSL Methods for PM25Vision</dc:title>
  <dc:subject>PptxGenJS Presentation</dc:subject>
  <dc:creator>PptxGenJS</dc:creator>
  <cp:lastModifiedBy>Shovon</cp:lastModifiedBy>
  <cp:revision>2</cp:revision>
  <dcterms:created xsi:type="dcterms:W3CDTF">2026-04-04T12:51:29Z</dcterms:created>
  <dcterms:modified xsi:type="dcterms:W3CDTF">2026-04-04T12:58:30Z</dcterms:modified>
</cp:coreProperties>
</file>